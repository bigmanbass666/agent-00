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【开场 · 约 40 秒，态度自信】</a:t>
            </a:r>
          </a:p>
          <a:p>
            <a:r>
              <a:rPr/>
              <a:t>我们组做的是基于《The Anabolic Cookbook 2.0》的课程知识问答系统。教材 205 页、209 条书签，切成了 159 个知识块。</a:t>
            </a:r>
          </a:p>
          <a:p>
            <a:r>
              <a:rPr/>
              <a:t>一句话说清它和普通 ChatGPT 的区别：它只认这本书，每个事实都带页码，书里没有的它就说不知道。</a:t>
            </a:r>
          </a:p>
          <a:p>
            <a:r>
              <a:rPr/>
              <a:t>50 道题实测：准确率 89.7%，拒答正确率 90.5%，页码引用覆盖率 100%。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【背景 · 约 20 秒，语速快】</a:t>
            </a:r>
          </a:p>
          <a:p>
            <a:r>
              <a:rPr/>
              <a:t>为什么做这个？课程调研里发现通用大模型有两个致命问题：一是编造细节数字，二是给不出可核查的页码。</a:t>
            </a:r>
          </a:p>
          <a:p>
            <a:r>
              <a:rPr/>
              <a:t>我们的目标就是治这两个病：每个答案都能翻回原书核对，查不到就明说不知道。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【选型 · 约 20 秒，一句话带过】</a:t>
            </a:r>
          </a:p>
          <a:p>
            <a:r>
              <a:rPr/>
              <a:t>平台上我们试过官方知识库，但回答不带页码、不能控制分块，所以自建了一条 RAG 管线——检索和引用完全自己掌控。</a:t>
            </a:r>
          </a:p>
          <a:p>
            <a:r>
              <a:rPr/>
              <a:t>这页不细讲，下页看全链路。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【架构 · 约 30 秒】</a:t>
            </a:r>
          </a:p>
          <a:p>
            <a:r>
              <a:rPr/>
              <a:t>一页看懂：离线侧把教材切成 159 块、生成向量；在线侧检索、组装、生成、强制带页码。</a:t>
            </a:r>
          </a:p>
          <a:p>
            <a:r>
              <a:rPr/>
              <a:t>整条链路的核心约束就一条：生成阶段只许用检索到的资料，禁止外部知识。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【知识库构建 · 约 25 秒，技术要点 1】</a:t>
            </a:r>
          </a:p>
          <a:p>
            <a:r>
              <a:rPr/>
              <a:t>分块策略是全系统最重要的决策。菜谱书是「一道菜一个章节」，按固定字数切会把配料和步骤劈开，回答必然残缺。</a:t>
            </a:r>
          </a:p>
          <a:p>
            <a:r>
              <a:rPr/>
              <a:t>所以我们按书签章节切：159 块覆盖 142 个章节，87% 的章节正好一块。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【检索工具 · 约 20 秒】</a:t>
            </a:r>
          </a:p>
          <a:p>
            <a:r>
              <a:rPr/>
              <a:t>检索用混合召回：向量 0.6 + 关键词 0.4。纯向量查不准数字类问题（比如 325°F），关键词能兜这类漏洞。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【提示词 · 约 20 秒，挑 R3 讲】</a:t>
            </a:r>
          </a:p>
          <a:p>
            <a:r>
              <a:rPr/>
              <a:t>系统提示词 R1 到 R6 逐条落地，最关键是 R3：每个事实必须带【教材 p.N】页码，不允许说「根据资料」这种模糊引用。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【拒答机制 · 约 30 秒，技术要点 2，全组最亮的点之一】</a:t>
            </a:r>
          </a:p>
          <a:p>
            <a:r>
              <a:rPr/>
              <a:t>两层拒答：第一层检索阈值，分低于 0.3 直接拦，大模型根本不调用；第二层 LLM 读完资料判断资料里到底有没有答案。</a:t>
            </a:r>
          </a:p>
          <a:p>
            <a:r>
              <a:rPr/>
              <a:t>只靠阈值会漏——书里出现过 protein powder，问品牌时检索分 0.579 能过阈值，但第二层 LLM 正确拒答了。只靠 LLM 会飘，所以必须两层。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【测试方法 · 约 15 秒】</a:t>
            </a:r>
          </a:p>
          <a:p>
            <a:r>
              <a:rPr/>
              <a:t>评测集 50 条，严格按课程脚手架配比：课内 30、课外 10、诱导 5、模糊 5，正好 60/20/10/10。</a:t>
            </a:r>
          </a:p>
          <a:p>
            <a:r>
              <a:rPr/>
              <a:t>另外留了 5 条 holdout 答辩现场抽，不参与调优。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【测试结果 · 约 25 秒，亮数据要有停顿】</a:t>
            </a:r>
          </a:p>
          <a:p>
            <a:r>
              <a:rPr/>
              <a:t>准确率 89.7%，拒答正确率 90.5%，页码引用覆盖率 100%，幻觉 2 条。</a:t>
            </a:r>
          </a:p>
          <a:p>
            <a:r>
              <a:rPr/>
              <a:t>硬线是准确率和拒答率都 ≥70%，我们两条都超了。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【四轮迭代 · 约 40 秒，最能证明「真做过」的一段】</a:t>
            </a:r>
          </a:p>
          <a:p>
            <a:r>
              <a:rPr/>
              <a:t>第二轮我们加了一整套混合召回，指标一点没动。把实际喂给大模型的 context 打印出来才发现——组装时写了 text[:2000]，全书 38% 的块超过 2000 字，答案被截掉半截。检索是对的，模型看不到。</a:t>
            </a:r>
          </a:p>
          <a:p>
            <a:r>
              <a:rPr/>
              <a:t>修完这个 bug 指标才动。一句话总结：指标不动的时候，先查数据管道，别急着换算法。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【失败案例 1 · 约 30 秒，选这个讲】</a:t>
            </a:r>
          </a:p>
          <a:p>
            <a:r>
              <a:rPr/>
              <a:t>原文 ground turkey（火鸡肉），系统答成「鸡胸肉或牛肉末」。页码对、步骤对，只有食材被替换。</a:t>
            </a:r>
          </a:p>
          <a:p>
            <a:r>
              <a:rPr/>
              <a:t>根因：瑞典肉丸的常识做法就是牛肉猪肉，模型的世界知识压过了教材原文——这是最隐蔽的违规，它不编数字，它换实体。光靠提示词不够，得在生成后做实体比对。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【失败案例 2 · 约 15 秒，快过】</a:t>
            </a:r>
          </a:p>
          <a:p>
            <a:r>
              <a:rPr/>
              <a:t>表格被压平的问题：旧版把表格拉成一行，系统答 16 tbsp，实际是 8 tbsp。修复后 21 个数据表变成结构化块，数值类问题全对了。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【现场演示 · 约 3 分钟，边点边讲】</a:t>
            </a:r>
          </a:p>
          <a:p>
            <a:r>
              <a:rPr/>
              <a:t>启动：cd project1 然后 python webui.py，浏览器打开 127.0.0.1:8000。</a:t>
            </a:r>
          </a:p>
          <a:p>
            <a:r>
              <a:rPr/>
              <a:t>如果断网或卡住：换 python demo_offline.py 读留痕，说「这是之前真实跑过的结果，网络不好，我们看留痕」。</a:t>
            </a:r>
          </a:p>
          <a:p>
            <a:r>
              <a:rPr/>
              <a:t>题 1 课内：What temperature and how long should I bake egg white bites?</a:t>
            </a:r>
          </a:p>
          <a:p>
            <a:r>
              <a:rPr/>
              <a:t>预期：烤箱 400°F/204°C、10 分钟【p.27】。讲解：不只是答案，还标了页码，可以现场翻 p.27 核对。</a:t>
            </a:r>
          </a:p>
          <a:p>
            <a:r>
              <a:rPr/>
              <a:t>题 2 课外：What is the capital of France?</a:t>
            </a:r>
          </a:p>
          <a:p>
            <a:r>
              <a:rPr/>
              <a:t>预期：拒答。讲解：检索分 0.009，第一层直接拦，大模型根本没调用——零幻觉风险。</a:t>
            </a:r>
          </a:p>
          <a:p>
            <a:r>
              <a:rPr/>
              <a:t>题 3 陷阱：How do I make sushi rolls at home?</a:t>
            </a:r>
          </a:p>
          <a:p>
            <a:r>
              <a:rPr/>
              <a:t>预期：拒答。讲解：寿司全书没出现过，但句式和其他菜谱高度相似，系统仍正确拒答。</a:t>
            </a:r>
          </a:p>
          <a:p>
            <a:r>
              <a:rPr/>
              <a:t>备选（时间够）：Which protein powder brand should I buy? 检索分 0.579 过阈值，靠第二层 LLM 拒答——这题最能体现两层拒答的价值。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【工程规范 · 约 10 秒，快过】</a:t>
            </a:r>
          </a:p>
          <a:p>
            <a:r>
              <a:rPr/>
              <a:t>一键脚本、密钥隔离（环境变量，入库存 .env.example）、评测可复现。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【拓展挑战 · 约 15 秒】</a:t>
            </a:r>
          </a:p>
          <a:p>
            <a:r>
              <a:rPr/>
              <a:t>做了三项：中文查询翻译层、多语言双库自动切换、换书验证（《原子习惯》58 块，管线与教材解耦）。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【翻译层 · 约 20 秒，本轮新增】</a:t>
            </a:r>
          </a:p>
          <a:p>
            <a:r>
              <a:rPr/>
              <a:t>发现中文提问英文书 25% 失效——不是检索坏，是中文问句对英文表意能力弱。加翻译层后失效率降到 0，英文题零影响（触发 0 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【转人工 · 约 15 秒，本轮新增】</a:t>
            </a:r>
          </a:p>
          <a:p>
            <a:r>
              <a:rPr/>
              <a:t>拒答时给用户一条出路：选择转人工咨询，记录工单。课程要求「说不知道」是底线，给出口才是闭环。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【不足与下一步 · 约 30 秒，收尾第一部分】</a:t>
            </a:r>
          </a:p>
          <a:p>
            <a:r>
              <a:rPr/>
              <a:t>不足说真话：2 条幻觉（实体替换）没用上后处理校验；转人工是本地工单记录，没接真实客服系统。</a:t>
            </a:r>
          </a:p>
          <a:p>
            <a:r>
              <a:rPr/>
              <a:t>下一步会先做生成后实体比对，再扩多跳能力。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【总结与分工 · 约 60 秒，收尾第二部分】</a:t>
            </a:r>
          </a:p>
          <a:p>
            <a:r>
              <a:rPr/>
              <a:t>最大收获不是做出了系统，而是学会用 A/B 数据做决策——6 次关键决策全留痕，其中 2 次被自己的实测推翻。</a:t>
            </a:r>
          </a:p>
          <a:p>
            <a:r>
              <a:rPr/>
              <a:t>分工：我负责整体设计和主讲（全组答辩一人完成），傅卓凝模型选型、陈涵飞知识库、陈芝聪评测。代码 AI 辅助生成，我们负责需求定义、方案取舍、结果验收。</a:t>
            </a:r>
          </a:p>
          <a:p>
            <a:r>
              <a:rPr/>
              <a:t>谢谢老师，欢迎提问。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6.png"/><Relationship Id="rId3" Type="http://schemas.openxmlformats.org/officeDocument/2006/relationships/image" Target="../media/image-5-6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image" Target="../media/image-7-7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3.png"/><Relationship Id="rId6" Type="http://schemas.openxmlformats.org/officeDocument/2006/relationships/image" Target="../media/image-10-4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5-6.png"/><Relationship Id="rId7" Type="http://schemas.openxmlformats.org/officeDocument/2006/relationships/image" Target="../media/image-5-6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-2.png"/><Relationship Id="rId6" Type="http://schemas.openxmlformats.org/officeDocument/2006/relationships/image" Target="../media/image-17-6.png"/><Relationship Id="rId7" Type="http://schemas.openxmlformats.org/officeDocument/2006/relationships/image" Target="../media/image-15-2.png"/><Relationship Id="rId8" Type="http://schemas.openxmlformats.org/officeDocument/2006/relationships/image" Target="../media/image-15-2.png"/><Relationship Id="rId9" Type="http://schemas.openxmlformats.org/officeDocument/2006/relationships/image" Target="../media/image-15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8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6.png"/><Relationship Id="rId3" Type="http://schemas.openxmlformats.org/officeDocument/2006/relationships/image" Target="../media/image-5-6.png"/><Relationship Id="rId4" Type="http://schemas.openxmlformats.org/officeDocument/2006/relationships/image" Target="../media/image-19-4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6.png"/><Relationship Id="rId3" Type="http://schemas.openxmlformats.org/officeDocument/2006/relationships/image" Target="../media/image-5-6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609585"/>
            <a:ext cx="205696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· PROJECT 01 · 2026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2019250"/>
            <a:ext cx="4276237" cy="67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某课程知识库的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61981" y="2743131"/>
            <a:ext cx="3666653" cy="67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智能问答系统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61981" y="3828954"/>
            <a:ext cx="9343411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基于 RAG 的教材问答助手 · 项目一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1981" y="4362341"/>
            <a:ext cx="934341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只查教材 · 逐句页码 · 检索不到如实说明 · 自动转人工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5248144"/>
            <a:ext cx="10667733" cy="95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1981" y="5486263"/>
            <a:ext cx="222841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endParaRPr lang="en-US" sz="820" dirty="0"/>
          </a:p>
        </p:txBody>
      </p:sp>
      <p:sp>
        <p:nvSpPr>
          <p:cNvPr id="10" name="Text 6"/>
          <p:cNvSpPr/>
          <p:nvPr/>
        </p:nvSpPr>
        <p:spPr>
          <a:xfrm>
            <a:off x="761981" y="5714857"/>
            <a:ext cx="222841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组号 ＿＿　组名 ＿＿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61981" y="6019650"/>
            <a:ext cx="222841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刘家暄 · 傅卓凝 · 陈涵飞 · 陈芝聪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337" y="5486263"/>
            <a:ext cx="923521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20" dirty="0"/>
          </a:p>
        </p:txBody>
      </p:sp>
      <p:sp>
        <p:nvSpPr>
          <p:cNvPr id="13" name="Text 9"/>
          <p:cNvSpPr/>
          <p:nvPr/>
        </p:nvSpPr>
        <p:spPr>
          <a:xfrm>
            <a:off x="10515337" y="5714857"/>
            <a:ext cx="92352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2026.10.19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515337" y="6019650"/>
            <a:ext cx="92352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专业素养培养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48598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PROBLEM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485982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大模型记的是语言统计，不是你的教材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438239"/>
            <a:ext cx="648598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让它"翻着书回答"：每个事实都能翻回原书页码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61981" y="2247844"/>
            <a:ext cx="320946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1981" y="2514537"/>
            <a:ext cx="32094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只查教材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971726"/>
            <a:ext cx="3200320" cy="95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1981" y="3133647"/>
            <a:ext cx="3209464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事实依据只能来自检索到的原文，模型内部知识被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完全隔离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495688" y="2247844"/>
            <a:ext cx="320946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95688" y="2514537"/>
            <a:ext cx="32094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必须给页码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88" y="2971726"/>
            <a:ext cx="3200320" cy="95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5688" y="3133647"/>
            <a:ext cx="3209464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每个事实后标注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【教材 p.XX】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，可当场翻书核对。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229394" y="2247844"/>
            <a:ext cx="320946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229394" y="2514537"/>
            <a:ext cx="32094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没有就说没有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394" y="2971726"/>
            <a:ext cx="3200320" cy="95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394" y="3133647"/>
            <a:ext cx="3209464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教材没写的一律回答"未找到"——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宁可不答，不准编造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5514837"/>
            <a:ext cx="10667733" cy="95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1981" y="5752956"/>
            <a:ext cx="429528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教材</a:t>
            </a:r>
            <a:endParaRPr lang="en-US" sz="820" dirty="0"/>
          </a:p>
        </p:txBody>
      </p:sp>
      <p:sp>
        <p:nvSpPr>
          <p:cNvPr id="20" name="Text 13"/>
          <p:cNvSpPr/>
          <p:nvPr/>
        </p:nvSpPr>
        <p:spPr>
          <a:xfrm>
            <a:off x="761981" y="5981550"/>
            <a:ext cx="429528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The Anabolic Cookbook 2.0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205 页 · 209 书签 · 142 章节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7772206" y="5752956"/>
            <a:ext cx="3666653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一菜一章，语义单元天然清晰；与参考案例完全差异化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343011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TECH STACK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343011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技术选型：为什么不走参考路径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81150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981150"/>
            <a:ext cx="1628354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方案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2381190" y="1981150"/>
            <a:ext cx="305706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组成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29114" y="1981150"/>
            <a:ext cx="6009744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判断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409765"/>
            <a:ext cx="10667733" cy="581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981" y="2409765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 参考路径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381190" y="2409765"/>
            <a:ext cx="305706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DSH + SQLite FTS5 + BM25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29114" y="2409765"/>
            <a:ext cx="600974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与参考案例重复，关键词对口语化提问不敏感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990775"/>
            <a:ext cx="10667733" cy="5810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1981" y="2990775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B 框架路线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2381190" y="2990775"/>
            <a:ext cx="305706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ChromaDB/FAISS + LangChain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429114" y="2990775"/>
            <a:ext cx="600974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 180 块，框架抽象成本大于收益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571786"/>
            <a:ext cx="10667733" cy="59053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1981" y="3571786"/>
            <a:ext cx="1628354" cy="5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自研（变体）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2381190" y="3571786"/>
            <a:ext cx="3057068" cy="5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自研检索 + 直连 LLM API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29114" y="3571786"/>
            <a:ext cx="6009744" cy="59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链路短、每层可打印中间结果、便于归因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← 选择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761981" y="4152796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D 低代码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2381190" y="4152796"/>
            <a:ext cx="305706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Dify / FastGPT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29114" y="4152796"/>
            <a:ext cx="600974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无法体现技术深度</a:t>
            </a:r>
            <a:endParaRPr lang="en-US" sz="13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5781530"/>
            <a:ext cx="10667733" cy="95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61981" y="6019650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归类：方案 C 变体——知识库用 json + npy 而非 SQLite；检索用 numpy 余弦 + 交叉编码器重排；未引入第三方 RAG 框架。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458103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ARCHITECTURE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4581030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系统架构：一页看懂全链路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QUERY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查询翻译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1981" y="2505012"/>
            <a:ext cx="115211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中文 → 英文检索式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1981" y="2724082"/>
            <a:ext cx="136166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缓存 + 三级降级回原句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90795" y="1904952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90835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RETRIEVE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90835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双路召回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90835" y="2505012"/>
            <a:ext cx="1780750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向量 top-20 + IDF 词汇 top-20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90835" y="2724082"/>
            <a:ext cx="8092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合并去重 ≤40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10125" y="1904952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19690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RERANK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19690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精排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19690" y="2505012"/>
            <a:ext cx="85684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cross-encoder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19690" y="2724082"/>
            <a:ext cx="61872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40 → 3 块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38979" y="1904952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239019" y="1904952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239019" y="213354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阈值拒答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239019" y="2505012"/>
            <a:ext cx="133308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 &lt; 0.3 且词汇 &lt; 0.85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239019" y="2724082"/>
            <a:ext cx="10759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直接拒，不调模型</a:t>
            </a:r>
            <a:endParaRPr lang="en-US" sz="10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3295568"/>
            <a:ext cx="10667733" cy="95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1981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GENERATE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61981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Qwen3-8B 生成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61981" y="4286143"/>
            <a:ext cx="168550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 块原文 + 页码/章节/相关度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61981" y="4505212"/>
            <a:ext cx="160930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用原始问题，回答语言不变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190795" y="3686083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590835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590835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LLM 层拒答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3590835" y="4286143"/>
            <a:ext cx="143785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拦"看着相关、书里没有"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590835" y="4505212"/>
            <a:ext cx="54253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的诱导题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010125" y="3686083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419690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OUTPUT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19690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回答 + 【教材 p.XX】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6419690" y="4286143"/>
            <a:ext cx="94257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每个事实带页码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419690" y="4505212"/>
            <a:ext cx="675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可翻书核对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8838979" y="3686083"/>
            <a:ext cx="190114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9239019" y="3686083"/>
            <a:ext cx="2209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9239019" y="3914677"/>
            <a:ext cx="22093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自动转人工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9239019" y="4286143"/>
            <a:ext cx="88542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 → 开工单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9239019" y="4505212"/>
            <a:ext cx="97114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/handoff 接单</a:t>
            </a:r>
            <a:endParaRPr lang="en-US" sz="105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752956"/>
            <a:ext cx="10667733" cy="9525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61981" y="5991075"/>
            <a:ext cx="10676877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翻译在前，检索两路，</a:t>
            </a:r>
            <a:pPr algn="l" indent="0" marL="0">
              <a:buNone/>
            </a:pPr>
            <a:r>
              <a:rPr lang="en-US" sz="19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拒答两层</a:t>
            </a:r>
            <a:pPr algn="l" indent="0" marL="0">
              <a:buNone/>
            </a:pPr>
            <a:r>
              <a:rPr lang="en-US" sz="19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，答不上转人工——每层都能单独验证。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724796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PHASE 1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7247963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知识库构建：按书签章节切，不按字数硬切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66853"/>
            <a:ext cx="2381190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61981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页 PDF · 193 页有文字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162" y="1866853"/>
            <a:ext cx="2381190" cy="95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24162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endParaRPr lang="en-US" sz="3150" dirty="0"/>
          </a:p>
        </p:txBody>
      </p:sp>
      <p:sp>
        <p:nvSpPr>
          <p:cNvPr id="10" name="Text 5"/>
          <p:cNvSpPr/>
          <p:nvPr/>
        </p:nvSpPr>
        <p:spPr>
          <a:xfrm>
            <a:off x="3524162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个分块（159 正文 + 21 表格）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43" y="1866853"/>
            <a:ext cx="2381190" cy="95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6343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</a:t>
            </a:r>
            <a:endParaRPr lang="en-US" sz="3150" dirty="0"/>
          </a:p>
        </p:txBody>
      </p:sp>
      <p:sp>
        <p:nvSpPr>
          <p:cNvPr id="13" name="Text 7"/>
          <p:cNvSpPr/>
          <p:nvPr/>
        </p:nvSpPr>
        <p:spPr>
          <a:xfrm>
            <a:off x="6286343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章节 · 87% 恰好一块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524" y="1866853"/>
            <a:ext cx="2381190" cy="95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48524" y="2028774"/>
            <a:ext cx="2390334" cy="40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</a:t>
            </a:r>
            <a:endParaRPr lang="en-US" sz="3150" dirty="0"/>
          </a:p>
        </p:txBody>
      </p:sp>
      <p:sp>
        <p:nvSpPr>
          <p:cNvPr id="16" name="Text 9"/>
          <p:cNvSpPr/>
          <p:nvPr/>
        </p:nvSpPr>
        <p:spPr>
          <a:xfrm>
            <a:off x="9048524" y="2505012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自检索验证全命中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61981" y="3676558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为什么按章节切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4095648"/>
            <a:ext cx="5029074" cy="95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61981" y="4257569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菜谱"一菜一章"，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配料和步骤不能分家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。章内超 3500 字符才二次切分，保留 300 字符重叠。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400640" y="3676558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回应"800~1200 tokens"</a:t>
            </a:r>
            <a:endParaRPr lang="en-US" sz="18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640" y="4095648"/>
            <a:ext cx="5029074" cy="95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00640" y="4257569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A/B 实测：合并到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864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tokens 后准确率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89.7%→78.6%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、页码定位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93.1%→85.7%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。按"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或等效粒度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"条款保留章节切。</a:t>
            </a:r>
            <a:endParaRPr lang="en-US" sz="13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500 字硬切会切开 595 块（多 3.7 倍），编号列表 138/180 靠句末切点保护；校验脚本 validate_kb 全通过。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343011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PHASE 2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343011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检索工具：为什么必须双路召回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533487"/>
            <a:ext cx="534301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knowledge_search(query, top_k) → 片段 + 页码 + 章节 + 分数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1981" y="2133547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 · 向量召回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81" y="236214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擅长语义，怕表格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781230"/>
            <a:ext cx="5029074" cy="95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1981" y="2981250"/>
            <a:ext cx="289514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bge-m3 多语言嵌入，余弦取 top-20。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61981" y="3266993"/>
            <a:ext cx="199981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实测换算表 reranker 只给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752656" y="3266993"/>
            <a:ext cx="35203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61981" y="3266993"/>
            <a:ext cx="4904872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——表格碎片被压成一行数字串，交叉编码器判断不了它是答案。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640" y="2133547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B · IDF 词汇召回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640" y="236214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擅长精确，救短事实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2781230"/>
            <a:ext cx="5029074" cy="95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640" y="2981250"/>
            <a:ext cx="465722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实词命中越罕见越可信：satay、tablespoons 命中即强信号。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00640" y="3266993"/>
            <a:ext cx="253320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专治表格 / 数字 / 短事实类查询。</a:t>
            </a:r>
            <a:endParaRPr lang="en-US" sz="13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457589"/>
            <a:ext cx="10667733" cy="95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1981" y="4771906"/>
            <a:ext cx="485724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两路合并去重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≤40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cross-encoder 精排 →</a:t>
            </a:r>
            <a:pPr algn="l" indent="0" marL="0">
              <a:buNone/>
            </a:pPr>
            <a:r>
              <a:rPr lang="en-US" sz="15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top-3</a:t>
            </a:r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喂 LLM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905752" y="4810005"/>
            <a:ext cx="153310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上下文完整，不做截断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对应拓展项：混合检索（E4）+ 检索结果重排序（E5）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39063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SYSTEM PROMPT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390634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系统提示词：R1~R6 落到代码里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66853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866853"/>
            <a:ext cx="1914096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约束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2666933" y="1866853"/>
            <a:ext cx="8771925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实现位置（可验证）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295468"/>
            <a:ext cx="10667733" cy="5429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1981" y="2295468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R1 先检索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2666933" y="2295468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代码顺序强制：</a:t>
            </a:r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retrieve()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一定在</a:t>
            </a:r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llm_call()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之前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838379"/>
            <a:ext cx="10667733" cy="5429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981" y="2838379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R2 只用教材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2666933" y="2838379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提示词第 1 条 + 资料隔离（只传 3 块原文）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381290"/>
            <a:ext cx="10667733" cy="54291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1981" y="3381290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R3 页码引用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2666933" y="3381290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分块带页码 + 规定</a:t>
            </a:r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【教材 p.XX】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格式 + 正则核验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924202"/>
            <a:ext cx="10667733" cy="54291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61981" y="3924202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R4 中文 + 术语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2666933" y="3924202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简洁中文；专业术语保留英文原词，禁止中英拼接造词</a:t>
            </a:r>
            <a:endParaRPr lang="en-US" sz="13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1" y="4467113"/>
            <a:ext cx="10667733" cy="542911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61981" y="4467113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R5 如实拒答</a:t>
            </a:r>
            <a:endParaRPr lang="en-US" sz="1350" dirty="0"/>
          </a:p>
        </p:txBody>
      </p:sp>
      <p:sp>
        <p:nvSpPr>
          <p:cNvPr id="22" name="Text 13"/>
          <p:cNvSpPr/>
          <p:nvPr/>
        </p:nvSpPr>
        <p:spPr>
          <a:xfrm>
            <a:off x="2666933" y="4467113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三档拒答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：无关 → 未找到 ｜ 部分相关 → 只答覆盖部分 ｜ 过宽 → 请指明具体对象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761981" y="5010025"/>
            <a:ext cx="1914096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R6 不抄原文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2666933" y="5010025"/>
            <a:ext cx="87719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≤2 句引用 + 最长公共子串自动检测（≥150 字报警）</a:t>
            </a:r>
            <a:endParaRPr lang="en-US" sz="13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61981" y="6057749"/>
            <a:ext cx="360950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每条规则都对应一次实测故障，不是模板照搬。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9296168" y="6076798"/>
            <a:ext cx="214269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提示词独立成文件，可单独评审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20013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REFUSAL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200139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单靠阈值会漏，单靠 LLM 会飘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2038299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1 · 阈值层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266893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拦完全无关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685983"/>
            <a:ext cx="5029074" cy="1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1981" y="2933627"/>
            <a:ext cx="72350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检索分 &lt;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476338" y="2933627"/>
            <a:ext cx="25678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714457" y="2933627"/>
            <a:ext cx="94257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且词汇分 &lt;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647884" y="2933627"/>
            <a:ext cx="35203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981250" y="2933627"/>
            <a:ext cx="114259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直接拒答，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105172" y="2933627"/>
            <a:ext cx="69492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不调模型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790955" y="2933627"/>
            <a:ext cx="18059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61981" y="3219370"/>
            <a:ext cx="160930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实测被拦题分数区间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362141" y="3219370"/>
            <a:ext cx="87589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0.001~0.06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219370" y="3219370"/>
            <a:ext cx="241890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：零 token 成本、零幻觉风险。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640" y="2038299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2 · LLM 层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400640" y="2266893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拦"看着相关"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2685983"/>
            <a:ext cx="5029074" cy="190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640" y="2952676"/>
            <a:ext cx="286657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protein powder brand should I buy?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640" y="3219370"/>
            <a:ext cx="5806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检索分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972126" y="3219370"/>
            <a:ext cx="4472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0.579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400640" y="3219370"/>
            <a:ext cx="5019169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高于阈值，阈值层拦不住 → LLM 读资料后判定"无品牌推荐"正确拒答。</a:t>
            </a:r>
            <a:endParaRPr lang="en-US" sz="13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629034"/>
            <a:ext cx="10667733" cy="95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1981" y="4867153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反向通道：词汇分 ≥ 0.85 时绕过阈值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61981" y="5210045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救表格类课内题（"1 杯多少汤匙"的 reranker 只有 0.17），避免误杀强证据查询。</a:t>
            </a:r>
            <a:endParaRPr lang="en-US" sz="13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1981" y="6057749"/>
            <a:ext cx="292372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两层各拦一类问题，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每层可单独测试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010425" y="6076798"/>
            <a:ext cx="243795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拒答正确率 90.5% ｜ 课内误杀 1/30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543825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EVAL DESIGN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5438258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50 题评测集：题型配比是硬要求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04952"/>
            <a:ext cx="2381190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761981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课内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61981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期望：回答 + 页码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162" y="1904952"/>
            <a:ext cx="2381190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4162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3300" dirty="0"/>
          </a:p>
        </p:txBody>
      </p:sp>
      <p:sp>
        <p:nvSpPr>
          <p:cNvPr id="11" name="Text 6"/>
          <p:cNvSpPr/>
          <p:nvPr/>
        </p:nvSpPr>
        <p:spPr>
          <a:xfrm>
            <a:off x="3524162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课外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524162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期望：拒答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43" y="1904952"/>
            <a:ext cx="2381190" cy="95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6343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300" dirty="0"/>
          </a:p>
        </p:txBody>
      </p:sp>
      <p:sp>
        <p:nvSpPr>
          <p:cNvPr id="15" name="Text 9"/>
          <p:cNvSpPr/>
          <p:nvPr/>
        </p:nvSpPr>
        <p:spPr>
          <a:xfrm>
            <a:off x="6286343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诱导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286343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貌似相关实则书外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524" y="1904952"/>
            <a:ext cx="2381190" cy="95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48524" y="2066873"/>
            <a:ext cx="2390334" cy="4190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300" dirty="0"/>
          </a:p>
        </p:txBody>
      </p:sp>
      <p:sp>
        <p:nvSpPr>
          <p:cNvPr id="19" name="Text 12"/>
          <p:cNvSpPr/>
          <p:nvPr/>
        </p:nvSpPr>
        <p:spPr>
          <a:xfrm>
            <a:off x="9048524" y="2562161"/>
            <a:ext cx="239033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模糊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9048524" y="2866953"/>
            <a:ext cx="239033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没指明对象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61981" y="3848004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每题带什么</a:t>
            </a:r>
            <a:endParaRPr lang="en-US" sz="15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4228994"/>
            <a:ext cx="5029074" cy="95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1981" y="4390915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gold_pages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标准页码（±1 容差）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61981" y="4752856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gold_keywords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中英双语答案要素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761981" y="5105272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五类判定：correct / wrong / hallucinated / refuse_correct / refuse_wrong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400640" y="3848004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防作弊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640" y="4228994"/>
            <a:ext cx="5029074" cy="95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00640" y="4390915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holdout 5 条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（含库外陷阱）不参与调优，现场抽问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6400640" y="4752856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R6 自动检测：≥150 字连续公共子串报警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400640" y="5105272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逐条留证：问题/分数/回答/命中项全部落盘</a:t>
            </a:r>
            <a:endParaRPr lang="en-US" sz="13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60/20/10/10 与课程脚手架对齐；统计用脚手架指定脚本 eval_stats.py（五类判定），这是对外唯一口径。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57189"/>
            <a:ext cx="455245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RESULTS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733407"/>
            <a:ext cx="4552455" cy="514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50 题实测：两条硬线双双通过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600160"/>
            <a:ext cx="1895428" cy="9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761981" y="2143071"/>
            <a:ext cx="46633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准确率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1981" y="2352616"/>
            <a:ext cx="913996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26/29 · ≥70%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01" y="1600160"/>
            <a:ext cx="1895428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962201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90.5%</a:t>
            </a: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2962201" y="2143071"/>
            <a:ext cx="77112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拒答正确率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962201" y="2352616"/>
            <a:ext cx="98067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19/21 · 硬指标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896" y="1600160"/>
            <a:ext cx="1895428" cy="95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52896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96.7%</a:t>
            </a:r>
            <a:endParaRPr lang="en-US" sz="2550" dirty="0"/>
          </a:p>
        </p:txBody>
      </p:sp>
      <p:sp>
        <p:nvSpPr>
          <p:cNvPr id="15" name="Text 9"/>
          <p:cNvSpPr/>
          <p:nvPr/>
        </p:nvSpPr>
        <p:spPr>
          <a:xfrm>
            <a:off x="5152896" y="2143071"/>
            <a:ext cx="77112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课内回答率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152896" y="2352616"/>
            <a:ext cx="39965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29/30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116" y="1600160"/>
            <a:ext cx="1895428" cy="95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53116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2550" dirty="0"/>
          </a:p>
        </p:txBody>
      </p:sp>
      <p:sp>
        <p:nvSpPr>
          <p:cNvPr id="19" name="Text 12"/>
          <p:cNvSpPr/>
          <p:nvPr/>
        </p:nvSpPr>
        <p:spPr>
          <a:xfrm>
            <a:off x="7353116" y="2143071"/>
            <a:ext cx="107591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页码引用覆盖率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353116" y="2352616"/>
            <a:ext cx="122831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每个回答都有出处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3811" y="1600160"/>
            <a:ext cx="1895428" cy="95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543811" y="1723982"/>
            <a:ext cx="1904572" cy="323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550" dirty="0"/>
          </a:p>
        </p:txBody>
      </p:sp>
      <p:sp>
        <p:nvSpPr>
          <p:cNvPr id="23" name="Text 15"/>
          <p:cNvSpPr/>
          <p:nvPr/>
        </p:nvSpPr>
        <p:spPr>
          <a:xfrm>
            <a:off x="9543811" y="2143071"/>
            <a:ext cx="61872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幻觉条数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9543811" y="2352616"/>
            <a:ext cx="107591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&lt;3 · 已逐条归因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61981" y="3352716"/>
            <a:ext cx="10676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换书验证 · 管线与教材解耦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1" y="3619410"/>
            <a:ext cx="10667733" cy="39051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61981" y="3619410"/>
            <a:ext cx="2399859" cy="390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指标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3152696" y="3619410"/>
            <a:ext cx="4238138" cy="390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Cookbook（英文 · 180 块 · 50 题）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7381690" y="3619410"/>
            <a:ext cx="4066693" cy="390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《原子习惯》（中文 · 58 块 · 30 题）</a:t>
            </a:r>
            <a:endParaRPr lang="en-US" sz="10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4009925"/>
            <a:ext cx="10667733" cy="42861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1981" y="4009925"/>
            <a:ext cx="23998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拒答正确率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3152696" y="4009925"/>
            <a:ext cx="423813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90.5%（课程口径）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7381690" y="4009925"/>
            <a:ext cx="406669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90.0 / 70.0 / 76.7（三次）</a:t>
            </a:r>
            <a:endParaRPr lang="en-US" sz="12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981" y="4438539"/>
            <a:ext cx="10667733" cy="42861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61981" y="4438539"/>
            <a:ext cx="23998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页码引用覆盖率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3152696" y="4438539"/>
            <a:ext cx="423813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7381690" y="4438539"/>
            <a:ext cx="406669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761981" y="4867153"/>
            <a:ext cx="23998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R6 抄原文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3152696" y="4867153"/>
            <a:ext cx="423813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条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7381690" y="4867153"/>
            <a:ext cx="406669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条</a:t>
            </a:r>
            <a:endParaRPr lang="en-US" sz="12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81" y="5781530"/>
            <a:ext cx="10667733" cy="952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61981" y="5943451"/>
            <a:ext cx="6295487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换掉语言、题材、结构，关键指标保持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换书只改一行配置，主线 50 题数据一字未动</a:t>
            </a:r>
            <a:endParaRPr lang="en-US" sz="1350" dirty="0"/>
          </a:p>
        </p:txBody>
      </p:sp>
      <p:sp>
        <p:nvSpPr>
          <p:cNvPr id="43" name="Text 31"/>
          <p:cNvSpPr/>
          <p:nvPr/>
        </p:nvSpPr>
        <p:spPr>
          <a:xfrm>
            <a:off x="7429314" y="5943451"/>
            <a:ext cx="4009544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主动披露：中文库受免费 API 波动影响（三次 90/70/76.7），页码引用与定位始终 100%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35263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ITERATION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352635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四轮迭代：从"指标不动"到"修掉根因"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04952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904952"/>
            <a:ext cx="771125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轮次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523962" y="1904952"/>
            <a:ext cx="339995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改动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914777" y="1904952"/>
            <a:ext cx="1628354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拒答正确率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533987" y="1904952"/>
            <a:ext cx="4914396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333567"/>
            <a:ext cx="10667733" cy="5810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1981" y="2333567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523962" y="2333567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基线：纯向量 + 单阈值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14777" y="2333567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87.5%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33987" y="2333567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914577"/>
            <a:ext cx="10667733" cy="5810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1981" y="2914577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523962" y="2914577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加混合召回 + 重写 Prompt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14777" y="2914577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87.5%（零提升）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533987" y="2914577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改动生效了吗？没有 → 查管道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495588"/>
            <a:ext cx="10667733" cy="5810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1981" y="3495588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523962" y="3495588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 context 截断 bug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914777" y="3495588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93.8%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533987" y="3495588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真凶：</a:t>
            </a:r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text[:2000]</a:t>
            </a:r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切掉了 38% 长块的后半段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61981" y="4076598"/>
            <a:ext cx="771125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523962" y="4076598"/>
            <a:ext cx="3399959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表格结构化（find_tables）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914777" y="4076598"/>
            <a:ext cx="162835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90.5%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33987" y="4076598"/>
            <a:ext cx="4914396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页码定位 93.1% → 96.6%</a:t>
            </a:r>
            <a:endParaRPr lang="en-US" sz="13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5333867"/>
            <a:ext cx="10667733" cy="95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61981" y="5571986"/>
            <a:ext cx="10676877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指标异常时，</a:t>
            </a:r>
            <a:pPr algn="l" indent="0" marL="0">
              <a:buNone/>
            </a:pPr>
            <a:r>
              <a:rPr lang="en-US" sz="19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先查数据管道，别急着换算法。</a:t>
            </a:r>
            <a:endParaRPr lang="en-US" sz="1950" dirty="0"/>
          </a:p>
        </p:txBody>
      </p:sp>
      <p:sp>
        <p:nvSpPr>
          <p:cNvPr id="31" name="Text 23"/>
          <p:cNvSpPr/>
          <p:nvPr/>
        </p:nvSpPr>
        <p:spPr>
          <a:xfrm>
            <a:off x="761981" y="5981550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R2 的"零提升"不是方法错了——检索一直是对的，是上下文在喂给模型之前被自己截断了。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80029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FAILURE 1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80029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最贵的 bug：检索对了，模型却看不见答案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61981" y="194305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现象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171646"/>
            <a:ext cx="3305092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2333567"/>
            <a:ext cx="232366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i17 "1 cup 多少 tbsp" 被拒答；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61981" y="2619310"/>
            <a:ext cx="119973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i13 reranker 给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952576" y="2619310"/>
            <a:ext cx="35203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285943" y="2619310"/>
            <a:ext cx="126641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高分仍被拒答。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448064" y="194305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排查路径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64" y="2171646"/>
            <a:ext cx="3305092" cy="95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48064" y="2295468"/>
            <a:ext cx="3314236" cy="83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先查召回（正确块在 top-20）→ 再查 reranker（排第一）→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最后打印实际喂给模型的 context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134147" y="194305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根因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47" y="2171646"/>
            <a:ext cx="3305092" cy="95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34147" y="2352616"/>
            <a:ext cx="1275937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chunk['text'][:2000]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34147" y="2619310"/>
            <a:ext cx="3161840" cy="476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全书 38% 的块超过 2000 字符，答案在末尾被切掉。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4000400"/>
            <a:ext cx="10667733" cy="95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1981" y="4314717"/>
            <a:ext cx="10676877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修复：去掉截断（最长块 3501 字符，3 块 ≈ 10.5k，Qwen3-8B 32k 上下文完全吃得下）。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761981" y="4743331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R2 加整套混合召回时的"零提升"，罪魁祸首就是它——不是算法问题，是数据管道问题。</a:t>
            </a:r>
            <a:endParaRPr lang="en-US" sz="13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61981" y="6057749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教训：RAG 的失败有 80% 不在模型。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养成打印最终 prompt 的习惯，比调任何参数都有效。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55265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FAILURE 2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552655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表格被压平：1 杯 = 16 汤匙（错了一倍）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761981" y="196210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题目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1981" y="2276418"/>
            <a:ext cx="1990294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tablespoons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1981" y="2590735"/>
            <a:ext cx="132356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 in one cup?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48064" y="196210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错误答案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48064" y="2228794"/>
            <a:ext cx="3314236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tbsp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448064" y="2685983"/>
            <a:ext cx="331423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差一倍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4147" y="1962101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正确答案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34147" y="2228794"/>
            <a:ext cx="3314236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tbsp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34147" y="2685983"/>
            <a:ext cx="331423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修复后稳定回答【教材 p.14】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3848004"/>
            <a:ext cx="10667733" cy="95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1981" y="4086123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 tsp　1 tbsp　8 tbsp　1 cup　16 oz　1 lb"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61981" y="4467113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两列表被提取成一行连续文本，行列关系丢失 →</a:t>
            </a:r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oz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被错配给</a:t>
            </a:r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tbsp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61981" y="5143371"/>
            <a:ext cx="10676877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修复：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find_tables()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抽表 → 结构化句子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 tbsp = 1 cup"</a:t>
            </a:r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单独成块；过滤噪音表只留 21 个真数据表。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61981" y="5533887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效果：页码定位 93.1%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96.6%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，拒答 85.7%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90.5%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6010125"/>
            <a:ext cx="10667733" cy="95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1981" y="6172046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遗留：营养表"每份/整批"单位歧义仍可能误答，已列入已知限制。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18119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LIVE DEMO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181190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现场演示：三题走完全链路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533487"/>
            <a:ext cx="618119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python webui.py → 浏览器；每题展开"检索到的原文片段"，可见页码、章节、reranker 分数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1981" y="2019250"/>
            <a:ext cx="32666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 1 · 课内（中文提问）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81" y="2247844"/>
            <a:ext cx="326661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蛋白小食烤箱要多少度、烤多久？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1981" y="2638359"/>
            <a:ext cx="146643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查询翻译 → 英文检索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1981" y="2886003"/>
            <a:ext cx="201886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400°F / 10 分钟【教材 p.27】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76638" y="2019250"/>
            <a:ext cx="32666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 2 · 课外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76638" y="2247844"/>
            <a:ext cx="326661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What is the capital of France?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76638" y="2638359"/>
            <a:ext cx="142833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阈值层拒答（检索分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86303" y="2638359"/>
            <a:ext cx="39965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7293" y="2638359"/>
            <a:ext cx="16154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76638" y="2886003"/>
            <a:ext cx="81874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页面显示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76718" y="2886003"/>
            <a:ext cx="77112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自动开工单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81770" y="2019250"/>
            <a:ext cx="326661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 3 · 转人工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81770" y="2247844"/>
            <a:ext cx="326661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打开 /handoff 工作台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81770" y="2638359"/>
            <a:ext cx="122831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看到刚生成的工单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81770" y="2886003"/>
            <a:ext cx="138071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点"开始处理"闭环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4152796"/>
            <a:ext cx="10667733" cy="95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1981" y="4390915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备选 · 高风险诱导题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61981" y="4619510"/>
            <a:ext cx="503821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protein powder brand should I buy?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61981" y="4886203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检索分 0.579 过阈值 → 靠 LLM 层拒答（全组最亮的点）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400640" y="4390915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备选 · 双库自动切换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00640" y="4619510"/>
            <a:ext cx="503821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中文问 → 《原子习惯》 auto:zh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640" y="4886203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英文问 → Cookbook auto:en（拓展 E1 现场展示）</a:t>
            </a:r>
            <a:endParaRPr lang="en-US" sz="10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holdout 现场抽题：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I make sushi rolls at home?</a:t>
            </a:r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书里没有，应拒答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610499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ENGINEERING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6104992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工程规范：换一本书，只改一行配置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904952"/>
            <a:ext cx="10676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模块划分（每层可独立验证）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209745"/>
            <a:ext cx="2438339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1981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 / 模型 / 路径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2" y="2209745"/>
            <a:ext cx="2438339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05112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build_kb.py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05112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提取 / 分块 / 向量化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209745"/>
            <a:ext cx="2438339" cy="95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48244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rag.py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48244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翻译 / 检索 / 生成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5" y="2209745"/>
            <a:ext cx="2438339" cy="95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91375" y="2333567"/>
            <a:ext cx="244748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run_eval_v2.py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991375" y="2600260"/>
            <a:ext cx="244748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评测 / 判定 / 统计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761981" y="3505112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换书三步</a:t>
            </a:r>
            <a:endParaRPr lang="en-US" sz="1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886103"/>
            <a:ext cx="5029074" cy="95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1981" y="4114697"/>
            <a:ext cx="288562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BOOK_PATH=新书.pdf python build_kb.py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61981" y="4419490"/>
            <a:ext cx="118069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validate_kb.py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761981" y="4724282"/>
            <a:ext cx="123783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run_eval_v2.py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761981" y="5038599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多书用 KB_VECTORS / KB_CHUNKS 隔离，互不覆盖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6400640" y="3505112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交付与安全</a:t>
            </a:r>
            <a:endParaRPr lang="en-US" sz="15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640" y="3886103"/>
            <a:ext cx="5029074" cy="952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00640" y="4048024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提示词独立成文件，可单独评审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400640" y="4371866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API Key 走 .env + gitignore，仓库无明文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6400640" y="4695708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一键流程：build → validate → eval → judge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400640" y="5019550"/>
            <a:ext cx="503821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支持云部署（Procfile），可现场跑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1981" y="6057749"/>
            <a:ext cx="1067687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管线与教材解耦：已在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 本书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上验证（英文 Cookbook 205 页 / 中文《原子习惯》286 页）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4485782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EXTENSIONS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4485782" cy="5714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拓展挑战：7 项里拿下 5 项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04952"/>
            <a:ext cx="10667733" cy="428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1981" y="1904952"/>
            <a:ext cx="771125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状态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1523962" y="1904952"/>
            <a:ext cx="324756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拓展项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62381" y="1904952"/>
            <a:ext cx="6676477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实现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333567"/>
            <a:ext cx="10667733" cy="5429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981" y="2333567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E1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523962" y="2333567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多语言支持（中英文教材 + 自动切换）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762381" y="2333567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双库并存 + 按提问语言路由；中文 30 题拒答 90%、页码 100%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2876478"/>
            <a:ext cx="10667733" cy="5429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1981" y="2876478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E4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523962" y="2876478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混合检索（全文 + 向量融合）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762381" y="2876478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IDF 词汇 + bge-m3 向量双路合并 + A/B 对比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419390"/>
            <a:ext cx="10667733" cy="5429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1981" y="3419390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E5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523962" y="3419390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检索结果重排序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762381" y="3419390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bge-reranker-v2-m3 交叉编码器，40 → 3</a:t>
            </a:r>
            <a:endParaRPr lang="en-US" sz="13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962301"/>
            <a:ext cx="10667733" cy="54291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61981" y="3962301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E6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1523962" y="3962301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可视化界面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762381" y="3962301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零依赖 Web UI + /handoff 人工工作台</a:t>
            </a:r>
            <a:endParaRPr lang="en-US" sz="13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81" y="4505212"/>
            <a:ext cx="10667733" cy="54291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61981" y="4505212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E7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1523962" y="4505212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对比实验（同一教材不同检索）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4762381" y="4505212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混合召回 vs 纯向量（一救一伤）+ 分块粒度（+11.1pp）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761981" y="5048124"/>
            <a:ext cx="77112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E2/E3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1523962" y="5048124"/>
            <a:ext cx="3247563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多轮对话 / 增量更新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4762381" y="5048124"/>
            <a:ext cx="6676477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未做（时间留给交付物完整性）</a:t>
            </a:r>
            <a:endParaRPr lang="en-US" sz="13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1" y="5895828"/>
            <a:ext cx="10667733" cy="952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61981" y="6095848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另加两项文档之外：查询翻译层（对应第十节 N6）+ 自动转人工（对齐课堂要求）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57189"/>
            <a:ext cx="543825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· QUERY TRANSLATION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733407"/>
            <a:ext cx="5438258" cy="4286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一个"分数很高却答不出"的隐蔽失败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61981" y="1600160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现象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828754"/>
            <a:ext cx="3305092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1952576"/>
            <a:ext cx="3314236" cy="60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英文库 + 中文提问，课内假拒答率</a:t>
            </a:r>
            <a:pPr algn="l" indent="0" marL="0">
              <a:buNone/>
            </a:pPr>
            <a:r>
              <a:rPr lang="en-US" sz="18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（英文基线 3%）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448064" y="1600160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隐蔽点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64" y="1828754"/>
            <a:ext cx="3305092" cy="95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48064" y="1952576"/>
            <a:ext cx="3314236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i03 怎么做高蛋白千层面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top=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0.457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已过阈值，但检索到错的段落 → 模型只能拒答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134147" y="1600160"/>
            <a:ext cx="331423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业界依据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47" y="1828754"/>
            <a:ext cx="3305092" cy="95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34147" y="1952576"/>
            <a:ext cx="3314236" cy="83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跨语言 RAG 三种主流范式之一（Translate-Query-Retrieve）；中文实测翻译枢纽后命中 71% → 80%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3352716"/>
            <a:ext cx="10667733" cy="95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1981" y="3667033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实现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761981" y="3895628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CJK 检测 → LLM 译成英文检索式 → 缓存 →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三级降级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（失败/超时/仍含中文都回原句）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400640" y="3667033"/>
            <a:ext cx="50382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关键设计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6400640" y="3895628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检索用译文，生成仍用原始中文问题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——回答语言和页码规则零影响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4876678"/>
            <a:ext cx="2438339" cy="95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1981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3→0</a:t>
            </a:r>
            <a:endParaRPr lang="en-US" sz="2250" dirty="0"/>
          </a:p>
        </p:txBody>
      </p:sp>
      <p:sp>
        <p:nvSpPr>
          <p:cNvPr id="21" name="Text 13"/>
          <p:cNvSpPr/>
          <p:nvPr/>
        </p:nvSpPr>
        <p:spPr>
          <a:xfrm>
            <a:off x="761981" y="5381490"/>
            <a:ext cx="10378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中文 12 题拒答数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761981" y="5571986"/>
            <a:ext cx="68540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25% → 0%</a:t>
            </a:r>
            <a:endParaRPr lang="en-US" sz="10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112" y="4876678"/>
            <a:ext cx="2438339" cy="95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505112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3/3</a:t>
            </a:r>
            <a:endParaRPr lang="en-US" sz="2250" dirty="0"/>
          </a:p>
        </p:txBody>
      </p:sp>
      <p:sp>
        <p:nvSpPr>
          <p:cNvPr id="25" name="Text 16"/>
          <p:cNvSpPr/>
          <p:nvPr/>
        </p:nvSpPr>
        <p:spPr>
          <a:xfrm>
            <a:off x="3505112" y="5381490"/>
            <a:ext cx="94257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隐蔽失败题救回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3505112" y="5571986"/>
            <a:ext cx="61872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i03/i04/i07</a:t>
            </a:r>
            <a:endParaRPr lang="en-US" sz="10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244" y="4876678"/>
            <a:ext cx="2438339" cy="952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248244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50" dirty="0"/>
          </a:p>
        </p:txBody>
      </p:sp>
      <p:sp>
        <p:nvSpPr>
          <p:cNvPr id="29" name="Text 19"/>
          <p:cNvSpPr/>
          <p:nvPr/>
        </p:nvSpPr>
        <p:spPr>
          <a:xfrm>
            <a:off x="6248244" y="5381490"/>
            <a:ext cx="107591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英文路径触发次数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6248244" y="5571986"/>
            <a:ext cx="8092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代码级零侵入</a:t>
            </a:r>
            <a:endParaRPr lang="en-US" sz="10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375" y="4876678"/>
            <a:ext cx="2438339" cy="952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991375" y="5000500"/>
            <a:ext cx="244748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50" dirty="0"/>
          </a:p>
        </p:txBody>
      </p:sp>
      <p:sp>
        <p:nvSpPr>
          <p:cNvPr id="33" name="Text 22"/>
          <p:cNvSpPr/>
          <p:nvPr/>
        </p:nvSpPr>
        <p:spPr>
          <a:xfrm>
            <a:off x="8991375" y="5381490"/>
            <a:ext cx="92352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检索漂移 &gt;0.15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8991375" y="5571986"/>
            <a:ext cx="6758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检索层稳定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420003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· HUMAN HANDOFF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4200039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把课堂要求做成双端闭环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1962101"/>
            <a:ext cx="10667733" cy="9524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823" y="1962101"/>
            <a:ext cx="1035303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课堂原话（10-12）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85823" y="2228794"/>
            <a:ext cx="10353035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"找不到就不要回答……进一步的做的话，就是让它</a:t>
            </a:r>
            <a:pPr algn="l" indent="0" marL="0">
              <a:buNone/>
            </a:pPr>
            <a:r>
              <a:rPr lang="en-US" sz="16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自动转向人工</a:t>
            </a:r>
            <a:pPr algn="l" indent="0" marL="0">
              <a:buNone/>
            </a:pPr>
            <a:r>
              <a:rPr lang="en-US" sz="16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，人工在边上休息，AI 抛一个它答不了的问题过来，你才开始工作。"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61981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61981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AI 拒答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61981" y="4152796"/>
            <a:ext cx="2047443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阈值层 / LLM 层判定未覆盖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105072" y="3581310"/>
            <a:ext cx="23773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38459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38459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自动开工单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38459" y="4181370"/>
            <a:ext cx="16759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落 tickets.jsonl，返回工单号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38459" y="4400440"/>
            <a:ext cx="95209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T20261019-001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81550" y="3581310"/>
            <a:ext cx="23773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14937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514937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问答页提示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514937" y="4152796"/>
            <a:ext cx="2047443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"已自动转人工 · 工单 XXX · 人工已在 /handoff 接单"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858029" y="3581310"/>
            <a:ext cx="237738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391415" y="3581310"/>
            <a:ext cx="2047443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9391415" y="3809905"/>
            <a:ext cx="204744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人工工作台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9391415" y="4181370"/>
            <a:ext cx="111401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待处理/已处理统计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9391415" y="4400440"/>
            <a:ext cx="1037818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点"开始处理"闭环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857729"/>
            <a:ext cx="10667733" cy="952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1981" y="6057749"/>
            <a:ext cx="669552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人工端看到的，</a:t>
            </a:r>
            <a:pPr algn="l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正是系统最没把握的问题</a:t>
            </a:r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——两层拒答与工单是同一套判定的两个出口。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9753356" y="6076798"/>
            <a:ext cx="169502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零依赖：内置 http.server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724796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· LIMITATIONS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847704"/>
            <a:ext cx="7247963" cy="4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不足与下一步，包括一次被自己推翻的优化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1981" y="196210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已知限制（诚实披露）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2381190"/>
            <a:ext cx="5029074" cy="9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81" y="2543111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评测存在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±4pp 生成方差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（temperature 0.3 边界题）；检索层零漂移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61981" y="3219370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中文库受免费 API 波动影响（三次 90/70/76.7），页码引用与定位始终 100%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61981" y="3886103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营养表"每份/整批"单位歧义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640" y="1962101"/>
            <a:ext cx="50382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待办优先级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2381190"/>
            <a:ext cx="5029074" cy="95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640" y="2543111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生成后实体校验（拦"换食材"幻觉）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400640" y="2943151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词形还原（救 i18 类误拒）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400640" y="3333667"/>
            <a:ext cx="5038218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模糊问题指代检测（救 v03）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305192"/>
            <a:ext cx="10667733" cy="8286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5823" y="4305192"/>
            <a:ext cx="1035303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一次优化的自我回退（完整记录在决策日志）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85823" y="4571886"/>
            <a:ext cx="10353035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为救中文定义题给词法层加 2-gram 召回——实测整体指标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反降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（90.0%→86.7%、页码 100%→94.1%），目标题仍未救回 →</a:t>
            </a:r>
            <a:pPr algn="l" indent="0" marL="0">
              <a:buNone/>
            </a:pPr>
            <a:r>
              <a:rPr lang="en-US" sz="1350" dirty="0">
                <a:solidFill>
                  <a:srgbClr val="8C3B2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立即回退</a:t>
            </a:r>
            <a:pPr algn="l" indent="0" marL="0">
              <a:buNone/>
            </a:pPr>
            <a:r>
              <a:rPr lang="en-US" sz="1350" dirty="0">
                <a:solidFill>
                  <a:srgbClr val="40404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6010125"/>
            <a:ext cx="10667733" cy="95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1981" y="6172046"/>
            <a:ext cx="1067687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扫描版教材 OCR 已明确否决：531 页 70 分钟 + 错字污染检索，为验证把数据搞脏本末倒置。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533387"/>
            <a:ext cx="780650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8C3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820" dirty="0"/>
          </a:p>
        </p:txBody>
      </p:sp>
      <p:sp>
        <p:nvSpPr>
          <p:cNvPr id="4" name="Text 1"/>
          <p:cNvSpPr/>
          <p:nvPr/>
        </p:nvSpPr>
        <p:spPr>
          <a:xfrm>
            <a:off x="761981" y="1171546"/>
            <a:ext cx="4057168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50 题实测，准确率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4810005" y="1171546"/>
            <a:ext cx="1247363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8C3B2E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89.7%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6048224" y="1171546"/>
            <a:ext cx="485382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、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761981" y="1771606"/>
            <a:ext cx="2514156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拒答正确率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3266993" y="1771606"/>
            <a:ext cx="1247363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8C3B2E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90.5%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4495688" y="1771606"/>
            <a:ext cx="2514156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、页码引用</a:t>
            </a:r>
            <a:endParaRPr lang="en-US" sz="3750" dirty="0"/>
          </a:p>
        </p:txBody>
      </p:sp>
      <p:sp>
        <p:nvSpPr>
          <p:cNvPr id="10" name="Text 7"/>
          <p:cNvSpPr/>
          <p:nvPr/>
        </p:nvSpPr>
        <p:spPr>
          <a:xfrm>
            <a:off x="7000700" y="1771606"/>
            <a:ext cx="1123541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8C3B2E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100%</a:t>
            </a:r>
            <a:endParaRPr lang="en-US" sz="3750" dirty="0"/>
          </a:p>
        </p:txBody>
      </p:sp>
      <p:sp>
        <p:nvSpPr>
          <p:cNvPr id="11" name="Text 8"/>
          <p:cNvSpPr/>
          <p:nvPr/>
        </p:nvSpPr>
        <p:spPr>
          <a:xfrm>
            <a:off x="8105572" y="1771606"/>
            <a:ext cx="485382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。</a:t>
            </a:r>
            <a:endParaRPr lang="en-US" sz="3750" dirty="0"/>
          </a:p>
        </p:txBody>
      </p:sp>
      <p:sp>
        <p:nvSpPr>
          <p:cNvPr id="12" name="Text 9"/>
          <p:cNvSpPr/>
          <p:nvPr/>
        </p:nvSpPr>
        <p:spPr>
          <a:xfrm>
            <a:off x="761981" y="2685983"/>
            <a:ext cx="515251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换一本语言、题材、结构全不同的书，关键指标依然保持——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1981" y="3000300"/>
            <a:ext cx="458103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管线与教材解耦，不是口号，是跑了两次的评测结论。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1981" y="4171846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最大收获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4552836"/>
            <a:ext cx="5029074" cy="95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1981" y="4714757"/>
            <a:ext cx="5038218" cy="561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用 A/B 和对照实验做决策，而不是凭感觉调参。6 次关键决策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全部留痕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，其中</a:t>
            </a:r>
            <a:pPr algn="l" indent="0" marL="0">
              <a:buNone/>
            </a:pPr>
            <a:r>
              <a:rPr lang="en-US" sz="1350" b="1" dirty="0">
                <a:solidFill>
                  <a:srgbClr val="171717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 次被自己的实测推翻</a:t>
            </a:r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。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640" y="4171846"/>
            <a:ext cx="50382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分工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4552836"/>
            <a:ext cx="5029074" cy="95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640" y="4752856"/>
            <a:ext cx="380952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刘家暄（整体设计 + 主讲）／傅卓凝（模型选型）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640" y="5038599"/>
            <a:ext cx="275227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5252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陈涵飞（知识库）／陈芝聪（评测）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640" y="5352916"/>
            <a:ext cx="503821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代码由 AI 辅助生成，成员负责需求定义、方案取舍、结果验收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5743431"/>
            <a:ext cx="10667733" cy="95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1981" y="5981550"/>
            <a:ext cx="153310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谢谢 · 欢迎现场抽题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0667733" y="6000600"/>
            <a:ext cx="78065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2026.10.19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2026-10-19T10:16:32Z</dcterms:created>
  <dcterms:modified xsi:type="dcterms:W3CDTF">2026-10-19T10:16:32Z</dcterms:modified>
</cp:coreProperties>
</file>