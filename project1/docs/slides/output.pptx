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4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1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6.png"/><Relationship Id="rId8" Type="http://schemas.openxmlformats.org/officeDocument/2006/relationships/image" Target="../media/image-1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4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1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4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2.png"/><Relationship Id="rId6" Type="http://schemas.openxmlformats.org/officeDocument/2006/relationships/image" Target="../media/image-5-6.png"/><Relationship Id="rId7" Type="http://schemas.openxmlformats.org/officeDocument/2006/relationships/image" Target="../media/image-5-6.png"/><Relationship Id="rId8" Type="http://schemas.openxmlformats.org/officeDocument/2006/relationships/image" Target="../media/image-1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3.png"/><Relationship Id="rId5" Type="http://schemas.openxmlformats.org/officeDocument/2006/relationships/image" Target="../media/image-10-3.png"/><Relationship Id="rId6" Type="http://schemas.openxmlformats.org/officeDocument/2006/relationships/image" Target="../media/image-10-3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2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4-2.png"/><Relationship Id="rId3" Type="http://schemas.openxmlformats.org/officeDocument/2006/relationships/image" Target="../media/image-14-2.png"/><Relationship Id="rId4" Type="http://schemas.openxmlformats.org/officeDocument/2006/relationships/image" Target="../media/image-14-2.png"/><Relationship Id="rId5" Type="http://schemas.openxmlformats.org/officeDocument/2006/relationships/image" Target="../media/image-1-4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image" Target="../media/image-15-2.png"/><Relationship Id="rId5" Type="http://schemas.openxmlformats.org/officeDocument/2006/relationships/image" Target="../media/image-15-2.png"/><Relationship Id="rId6" Type="http://schemas.openxmlformats.org/officeDocument/2006/relationships/image" Target="../media/image-6-2.png"/><Relationship Id="rId7" Type="http://schemas.openxmlformats.org/officeDocument/2006/relationships/image" Target="../media/image-6-2.png"/><Relationship Id="rId8" Type="http://schemas.openxmlformats.org/officeDocument/2006/relationships/image" Target="../media/image-1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2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8.png"/><Relationship Id="rId10" Type="http://schemas.openxmlformats.org/officeDocument/2006/relationships/image" Target="../media/image-17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3.png"/><Relationship Id="rId5" Type="http://schemas.openxmlformats.org/officeDocument/2006/relationships/image" Target="../media/image-18-3.png"/><Relationship Id="rId6" Type="http://schemas.openxmlformats.org/officeDocument/2006/relationships/image" Target="../media/image-18-6.png"/><Relationship Id="rId7" Type="http://schemas.openxmlformats.org/officeDocument/2006/relationships/image" Target="../media/image-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19-4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20-2.png"/><Relationship Id="rId3" Type="http://schemas.openxmlformats.org/officeDocument/2006/relationships/image" Target="../media/image-5-6.png"/><Relationship Id="rId4" Type="http://schemas.openxmlformats.org/officeDocument/2006/relationships/image" Target="../media/image-5-6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590535"/>
            <a:ext cx="380990" cy="38099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04872" y="533387"/>
            <a:ext cx="189504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 Project · 2026</a:t>
            </a:r>
            <a:endParaRPr lang="en-US" sz="900" dirty="0"/>
          </a:p>
        </p:txBody>
      </p:sp>
      <p:sp>
        <p:nvSpPr>
          <p:cNvPr id="5" name="Text 1"/>
          <p:cNvSpPr/>
          <p:nvPr/>
        </p:nvSpPr>
        <p:spPr>
          <a:xfrm>
            <a:off x="609585" y="1914477"/>
            <a:ext cx="4542931" cy="7238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51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某课程知识库的</a:t>
            </a:r>
            <a:endParaRPr lang="en-US" sz="5100" dirty="0"/>
          </a:p>
        </p:txBody>
      </p:sp>
      <p:sp>
        <p:nvSpPr>
          <p:cNvPr id="6" name="Text 2"/>
          <p:cNvSpPr/>
          <p:nvPr/>
        </p:nvSpPr>
        <p:spPr>
          <a:xfrm>
            <a:off x="609585" y="2666933"/>
            <a:ext cx="3895247" cy="7238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51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智能问答系统</a:t>
            </a:r>
            <a:endParaRPr lang="en-US" sz="51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3838479"/>
            <a:ext cx="609585" cy="2857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409665" y="3705132"/>
            <a:ext cx="3571405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基于 RAG 的教材问答助手 · 项目一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609585" y="4276618"/>
            <a:ext cx="9343411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只查教材 · 逐句页码引用 · 检索不到如实说明 · 自动转人工</a:t>
            </a:r>
            <a:endParaRPr lang="en-US" sz="13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5324342"/>
            <a:ext cx="10972526" cy="952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09585" y="5562461"/>
            <a:ext cx="2685602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</a:t>
            </a:r>
            <a:endParaRPr lang="en-US" sz="900" dirty="0"/>
          </a:p>
        </p:txBody>
      </p:sp>
      <p:sp>
        <p:nvSpPr>
          <p:cNvPr id="12" name="Text 6"/>
          <p:cNvSpPr/>
          <p:nvPr/>
        </p:nvSpPr>
        <p:spPr>
          <a:xfrm>
            <a:off x="609585" y="5791055"/>
            <a:ext cx="2685602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组号：＿＿　组名：＿＿</a:t>
            </a:r>
            <a:endParaRPr lang="en-US" sz="1350" dirty="0"/>
          </a:p>
        </p:txBody>
      </p:sp>
      <p:sp>
        <p:nvSpPr>
          <p:cNvPr id="13" name="Text 7"/>
          <p:cNvSpPr/>
          <p:nvPr/>
        </p:nvSpPr>
        <p:spPr>
          <a:xfrm>
            <a:off x="609585" y="6095848"/>
            <a:ext cx="2685602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成员：刘家暄 · 傅卓凝 · 陈涵飞 · 陈芝聪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10667733" y="5562461"/>
            <a:ext cx="92352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</a:t>
            </a:r>
            <a:endParaRPr lang="en-US" sz="900" dirty="0"/>
          </a:p>
        </p:txBody>
      </p:sp>
      <p:sp>
        <p:nvSpPr>
          <p:cNvPr id="15" name="Text 9"/>
          <p:cNvSpPr/>
          <p:nvPr/>
        </p:nvSpPr>
        <p:spPr>
          <a:xfrm>
            <a:off x="10667733" y="5791055"/>
            <a:ext cx="923521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2026.10.19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10667733" y="6095848"/>
            <a:ext cx="92352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专业素养培养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840998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PROBLEM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8409984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问题是：大模型记的是语言统计，不是你的教材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09585" y="1457289"/>
            <a:ext cx="840998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让它"翻着书回答"，每个事实都能翻回原书页码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09585" y="2362141"/>
            <a:ext cx="304412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19150" y="2362141"/>
            <a:ext cx="923521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只查教材</a:t>
            </a:r>
            <a:endParaRPr lang="en-US" sz="18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819330"/>
            <a:ext cx="3409865" cy="95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09585" y="2981250"/>
            <a:ext cx="3419009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事实依据只能来自检索到的教材原文，模型的内部知识被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完全隔离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400440" y="2362141"/>
            <a:ext cx="304412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R3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810005" y="2362141"/>
            <a:ext cx="1152115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必须给页码</a:t>
            </a:r>
            <a:endParaRPr lang="en-US" sz="1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440" y="2819330"/>
            <a:ext cx="3409865" cy="95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400440" y="2981250"/>
            <a:ext cx="3419009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每个事实性陈述后标注</a:t>
            </a:r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【教材 p.XX】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，可当场翻书核对。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8181770" y="2362141"/>
            <a:ext cx="304412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R5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8591335" y="2362141"/>
            <a:ext cx="1609304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没覆盖就说没有</a:t>
            </a:r>
            <a:endParaRPr lang="en-US" sz="18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1770" y="2819330"/>
            <a:ext cx="3409865" cy="952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181770" y="2981250"/>
            <a:ext cx="3419009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教材没写的，一律回答"未找到"——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宁可不答，不准编造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5591035"/>
            <a:ext cx="10972526" cy="95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09585" y="5829154"/>
            <a:ext cx="529538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教材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609585" y="6057749"/>
            <a:ext cx="529538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The Anabolic Cookbook 2.0</a:t>
            </a:r>
            <a:pPr algn="l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（205 页 · 209 条书签 · 142 章节）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7391215" y="5829154"/>
            <a:ext cx="4200039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选它的原因：一菜一章，语义单元天然清晰；与参考案例（计算机网络）完全差异化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560970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TECH STACK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5609704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技术选型：为什么不走参考路径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09585" y="1457289"/>
            <a:ext cx="560970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文档允许"自定义方案"，代价是需要教师确认（已备归类说明）</a:t>
            </a:r>
            <a:endParaRPr lang="en-US" sz="13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171646"/>
            <a:ext cx="10972526" cy="4286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09585" y="2171646"/>
            <a:ext cx="1609304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方案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2209745" y="2171646"/>
            <a:ext cx="361902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组成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819630" y="2171646"/>
            <a:ext cx="5781150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我们的判断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600260"/>
            <a:ext cx="10972526" cy="59053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9585" y="2600260"/>
            <a:ext cx="1609304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 参考路径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2209745" y="2600260"/>
            <a:ext cx="3619029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DSH + SQLite FTS5 + BM25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5819630" y="2600260"/>
            <a:ext cx="5781150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与参考案例重复，关键词匹配对口语化提问不敏感</a:t>
            </a:r>
            <a:endParaRPr lang="en-US" sz="13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3190795"/>
            <a:ext cx="10972526" cy="5810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09585" y="3190795"/>
            <a:ext cx="160930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B 框架路线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2209745" y="3190795"/>
            <a:ext cx="3619029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ChromaDB/FAISS + LangChain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5819630" y="3190795"/>
            <a:ext cx="578115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数据仅 159 块，框架抽象成本大于收益</a:t>
            </a:r>
            <a:endParaRPr lang="en-US" sz="13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3771806"/>
            <a:ext cx="10972526" cy="59053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09585" y="3771806"/>
            <a:ext cx="1609304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自研（变体）</a:t>
            </a:r>
            <a:endParaRPr lang="en-US" sz="1350" dirty="0"/>
          </a:p>
        </p:txBody>
      </p:sp>
      <p:sp>
        <p:nvSpPr>
          <p:cNvPr id="20" name="Text 13"/>
          <p:cNvSpPr/>
          <p:nvPr/>
        </p:nvSpPr>
        <p:spPr>
          <a:xfrm>
            <a:off x="2209745" y="3771806"/>
            <a:ext cx="3619029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自研检索 + 直连 LLM API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5819630" y="3771806"/>
            <a:ext cx="5781150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链路短、每层可打印中间结果、便于归因</a:t>
            </a:r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← 我们的选择</a:t>
            </a:r>
            <a:endParaRPr lang="en-US" sz="1350" dirty="0"/>
          </a:p>
        </p:txBody>
      </p:sp>
      <p:sp>
        <p:nvSpPr>
          <p:cNvPr id="22" name="Text 15"/>
          <p:cNvSpPr/>
          <p:nvPr/>
        </p:nvSpPr>
        <p:spPr>
          <a:xfrm>
            <a:off x="609585" y="4352816"/>
            <a:ext cx="160930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 低代码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2209745" y="4352816"/>
            <a:ext cx="3619029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Dify / FastGPT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5819630" y="4352816"/>
            <a:ext cx="578115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无法体现技术深度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609585" y="5676758"/>
            <a:ext cx="652408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差异化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609585" y="5905352"/>
            <a:ext cx="6524081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教材不同 · 检索方式不同（向量 + 词汇混合）· 未使用方案 A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7581710" y="5676758"/>
            <a:ext cx="400954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归类说明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7581710" y="5905352"/>
            <a:ext cx="4009544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 的变体：知识库用 json + npy 而非 SQLite；检索用 numpy 余弦 + 交叉编码器重排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480962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ARCHITECTURE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4809624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系统架构：一页看懂全链路</a:t>
            </a:r>
            <a:endParaRPr lang="en-US" sz="3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1866853"/>
            <a:ext cx="1438239" cy="10191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2456" y="1990675"/>
            <a:ext cx="116164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752456" y="2181170"/>
            <a:ext cx="1161640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查询翻译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752456" y="2457389"/>
            <a:ext cx="990194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中文 → 英文检索式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752456" y="2619310"/>
            <a:ext cx="828274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缓存 + 三级降级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2162121" y="1866853"/>
            <a:ext cx="161540" cy="10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8814" y="1866853"/>
            <a:ext cx="1895428" cy="101915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571686" y="1990675"/>
            <a:ext cx="1618829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2571686" y="2181170"/>
            <a:ext cx="1618829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双路召回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2571686" y="2457389"/>
            <a:ext cx="1533106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向量 top-20 + IDF 词汇 top-20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2571686" y="2619310"/>
            <a:ext cx="694927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合并去重 ≤40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4438539" y="1866853"/>
            <a:ext cx="161540" cy="10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232" y="1866853"/>
            <a:ext cx="1438239" cy="101915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848104" y="1990675"/>
            <a:ext cx="116164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4848104" y="2181170"/>
            <a:ext cx="1161640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精排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4848104" y="2457389"/>
            <a:ext cx="742551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cross-encoder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848104" y="2619310"/>
            <a:ext cx="533006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40 → 3 块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6257769" y="1866853"/>
            <a:ext cx="161540" cy="10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462" y="1866853"/>
            <a:ext cx="1438239" cy="101915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667333" y="1990675"/>
            <a:ext cx="116164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1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6667333" y="2181170"/>
            <a:ext cx="1161640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阈值拒答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6667333" y="2457389"/>
            <a:ext cx="561580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分 &lt; 0.3 且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6667333" y="2619310"/>
            <a:ext cx="885422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词汇 &lt; 0.85 → 拒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8067473" y="1866853"/>
            <a:ext cx="161540" cy="10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4167" y="1866853"/>
            <a:ext cx="1438239" cy="101915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8477038" y="1990675"/>
            <a:ext cx="116164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8477038" y="2181170"/>
            <a:ext cx="1161640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Prompt 组装</a:t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8477038" y="2457389"/>
            <a:ext cx="809224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3 块原文 + 页码</a:t>
            </a:r>
            <a:endParaRPr lang="en-US" sz="900" dirty="0"/>
          </a:p>
        </p:txBody>
      </p:sp>
      <p:sp>
        <p:nvSpPr>
          <p:cNvPr id="33" name="Text 25"/>
          <p:cNvSpPr/>
          <p:nvPr/>
        </p:nvSpPr>
        <p:spPr>
          <a:xfrm>
            <a:off x="8477038" y="2619310"/>
            <a:ext cx="818749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+ 章节 + 相关度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9886703" y="1866853"/>
            <a:ext cx="161540" cy="10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53396" y="1866853"/>
            <a:ext cx="1438239" cy="101915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0296268" y="1990675"/>
            <a:ext cx="116164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5</a:t>
            </a:r>
            <a:endParaRPr lang="en-US" sz="900" dirty="0"/>
          </a:p>
        </p:txBody>
      </p:sp>
      <p:sp>
        <p:nvSpPr>
          <p:cNvPr id="37" name="Text 28"/>
          <p:cNvSpPr/>
          <p:nvPr/>
        </p:nvSpPr>
        <p:spPr>
          <a:xfrm>
            <a:off x="10296268" y="2181170"/>
            <a:ext cx="1161640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Qwen3-8B</a:t>
            </a:r>
            <a:endParaRPr lang="en-US" sz="1200" dirty="0"/>
          </a:p>
        </p:txBody>
      </p:sp>
      <p:sp>
        <p:nvSpPr>
          <p:cNvPr id="38" name="Text 29"/>
          <p:cNvSpPr/>
          <p:nvPr/>
        </p:nvSpPr>
        <p:spPr>
          <a:xfrm>
            <a:off x="10296268" y="2457389"/>
            <a:ext cx="809224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按原始问题生成</a:t>
            </a:r>
            <a:endParaRPr lang="en-US" sz="900" dirty="0"/>
          </a:p>
        </p:txBody>
      </p:sp>
      <p:sp>
        <p:nvSpPr>
          <p:cNvPr id="39" name="Text 30"/>
          <p:cNvSpPr/>
          <p:nvPr/>
        </p:nvSpPr>
        <p:spPr>
          <a:xfrm>
            <a:off x="10296268" y="2619310"/>
            <a:ext cx="694927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回答语言不变</a:t>
            </a:r>
            <a:endParaRPr lang="en-US" sz="900" dirty="0"/>
          </a:p>
        </p:txBody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585" y="3505112"/>
            <a:ext cx="3209845" cy="866753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752456" y="3628934"/>
            <a:ext cx="293324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2</a:t>
            </a:r>
            <a:endParaRPr lang="en-US" sz="900" dirty="0"/>
          </a:p>
        </p:txBody>
      </p:sp>
      <p:sp>
        <p:nvSpPr>
          <p:cNvPr id="42" name="Text 32"/>
          <p:cNvSpPr/>
          <p:nvPr/>
        </p:nvSpPr>
        <p:spPr>
          <a:xfrm>
            <a:off x="752456" y="3819430"/>
            <a:ext cx="2933246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LLM 层拒答</a:t>
            </a:r>
            <a:endParaRPr lang="en-US" sz="1200" dirty="0"/>
          </a:p>
        </p:txBody>
      </p:sp>
      <p:sp>
        <p:nvSpPr>
          <p:cNvPr id="43" name="Text 33"/>
          <p:cNvSpPr/>
          <p:nvPr/>
        </p:nvSpPr>
        <p:spPr>
          <a:xfrm>
            <a:off x="752456" y="4086123"/>
            <a:ext cx="2933246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拦"看着相关、书里没有"的诱导题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3933727" y="3505112"/>
            <a:ext cx="161540" cy="86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0420" y="3505112"/>
            <a:ext cx="3209845" cy="866753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4343291" y="3628934"/>
            <a:ext cx="293324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4343291" y="3819430"/>
            <a:ext cx="2933246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回答 + 【教材 p.XX】</a:t>
            </a:r>
            <a:endParaRPr lang="en-US" sz="1200" dirty="0"/>
          </a:p>
        </p:txBody>
      </p:sp>
      <p:sp>
        <p:nvSpPr>
          <p:cNvPr id="48" name="Text 37"/>
          <p:cNvSpPr/>
          <p:nvPr/>
        </p:nvSpPr>
        <p:spPr>
          <a:xfrm>
            <a:off x="4343291" y="4086123"/>
            <a:ext cx="2933246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每个事实带页码，可翻书核对</a:t>
            </a:r>
            <a:endParaRPr lang="en-US" sz="900" dirty="0"/>
          </a:p>
        </p:txBody>
      </p:sp>
      <p:sp>
        <p:nvSpPr>
          <p:cNvPr id="49" name="Text 38"/>
          <p:cNvSpPr/>
          <p:nvPr/>
        </p:nvSpPr>
        <p:spPr>
          <a:xfrm>
            <a:off x="7524562" y="3505112"/>
            <a:ext cx="161540" cy="86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200" dirty="0"/>
          </a:p>
        </p:txBody>
      </p:sp>
      <p:pic>
        <p:nvPicPr>
          <p:cNvPr id="5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91255" y="3505112"/>
            <a:ext cx="3800380" cy="866753"/>
          </a:xfrm>
          <a:prstGeom prst="rect">
            <a:avLst/>
          </a:prstGeom>
        </p:spPr>
      </p:pic>
      <p:sp>
        <p:nvSpPr>
          <p:cNvPr id="51" name="Text 39"/>
          <p:cNvSpPr/>
          <p:nvPr/>
        </p:nvSpPr>
        <p:spPr>
          <a:xfrm>
            <a:off x="7934127" y="3628934"/>
            <a:ext cx="352378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</a:t>
            </a:r>
            <a:endParaRPr lang="en-US" sz="900" dirty="0"/>
          </a:p>
        </p:txBody>
      </p:sp>
      <p:sp>
        <p:nvSpPr>
          <p:cNvPr id="52" name="Text 40"/>
          <p:cNvSpPr/>
          <p:nvPr/>
        </p:nvSpPr>
        <p:spPr>
          <a:xfrm>
            <a:off x="7934127" y="3819430"/>
            <a:ext cx="352378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拒答 = 自动转人工</a:t>
            </a:r>
            <a:endParaRPr lang="en-US" sz="1200" dirty="0"/>
          </a:p>
        </p:txBody>
      </p:sp>
      <p:sp>
        <p:nvSpPr>
          <p:cNvPr id="53" name="Text 41"/>
          <p:cNvSpPr/>
          <p:nvPr/>
        </p:nvSpPr>
        <p:spPr>
          <a:xfrm>
            <a:off x="7934127" y="4086123"/>
            <a:ext cx="3523781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自动开工单 → /handoff 人工工作台接单</a:t>
            </a:r>
            <a:endParaRPr lang="en-US" sz="900" dirty="0"/>
          </a:p>
        </p:txBody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585" y="5714857"/>
            <a:ext cx="10972526" cy="9525"/>
          </a:xfrm>
          <a:prstGeom prst="rect">
            <a:avLst/>
          </a:prstGeom>
        </p:spPr>
      </p:pic>
      <p:sp>
        <p:nvSpPr>
          <p:cNvPr id="55" name="Text 42"/>
          <p:cNvSpPr/>
          <p:nvPr/>
        </p:nvSpPr>
        <p:spPr>
          <a:xfrm>
            <a:off x="609585" y="5952976"/>
            <a:ext cx="10981670" cy="3714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翻译在前，检索两路，</a:t>
            </a:r>
            <a:pPr algn="l" indent="0" marL="0">
              <a:buNone/>
            </a:pPr>
            <a:r>
              <a:rPr lang="en-US" sz="1950" dirty="0">
                <a:solidFill>
                  <a:srgbClr val="B044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拒答两层</a:t>
            </a:r>
            <a:pPr algn="l" indent="0" marL="0">
              <a:buNone/>
            </a:pPr>
            <a:r>
              <a:rPr lang="en-US" sz="19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，答不上转人工——每层都能单独验证。</a:t>
            </a:r>
            <a:endParaRPr lang="en-US" sz="1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760990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PHASE 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7609904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知识库构建：按书签章节切，不按字数硬切</a:t>
            </a:r>
            <a:endParaRPr lang="en-US" sz="3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1828754"/>
            <a:ext cx="2514537" cy="85722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9585" y="2000200"/>
            <a:ext cx="2523681" cy="380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609585" y="2457389"/>
            <a:ext cx="252368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页 PDF → 193 页有文字</a:t>
            </a:r>
            <a:endParaRPr lang="en-US" sz="12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8914" y="1828754"/>
            <a:ext cx="2514537" cy="85722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428914" y="2000200"/>
            <a:ext cx="2523681" cy="380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159</a:t>
            </a:r>
            <a:endParaRPr lang="en-US" sz="3000" dirty="0"/>
          </a:p>
        </p:txBody>
      </p:sp>
      <p:sp>
        <p:nvSpPr>
          <p:cNvPr id="10" name="Text 5"/>
          <p:cNvSpPr/>
          <p:nvPr/>
        </p:nvSpPr>
        <p:spPr>
          <a:xfrm>
            <a:off x="3428914" y="2457389"/>
            <a:ext cx="252368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个分块（正文 + 表格结构化）</a:t>
            </a:r>
            <a:endParaRPr lang="en-US" sz="12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244" y="1828754"/>
            <a:ext cx="2514537" cy="857229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248244" y="2000200"/>
            <a:ext cx="2523681" cy="380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142</a:t>
            </a:r>
            <a:endParaRPr lang="en-US" sz="3000" dirty="0"/>
          </a:p>
        </p:txBody>
      </p:sp>
      <p:sp>
        <p:nvSpPr>
          <p:cNvPr id="13" name="Text 7"/>
          <p:cNvSpPr/>
          <p:nvPr/>
        </p:nvSpPr>
        <p:spPr>
          <a:xfrm>
            <a:off x="6248244" y="2457389"/>
            <a:ext cx="252368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个章节 · 87% 章节恰好一块</a:t>
            </a:r>
            <a:endParaRPr lang="en-US" sz="12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573" y="1828754"/>
            <a:ext cx="2514537" cy="857229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67573" y="2000200"/>
            <a:ext cx="2523681" cy="380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3/3</a:t>
            </a:r>
            <a:endParaRPr lang="en-US" sz="3000" dirty="0"/>
          </a:p>
        </p:txBody>
      </p:sp>
      <p:sp>
        <p:nvSpPr>
          <p:cNvPr id="16" name="Text 9"/>
          <p:cNvSpPr/>
          <p:nvPr/>
        </p:nvSpPr>
        <p:spPr>
          <a:xfrm>
            <a:off x="9067573" y="2457389"/>
            <a:ext cx="252368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自检索验证全部命中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609585" y="3505112"/>
            <a:ext cx="5228714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为什么按章节切</a:t>
            </a:r>
            <a:endParaRPr lang="en-US" sz="18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5" y="3924202"/>
            <a:ext cx="5219570" cy="952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609585" y="4086123"/>
            <a:ext cx="5228714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菜谱书"一菜一章"，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配料和步骤不能分家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            章内超 3500 字符才二次切分，保留 300 字符重叠；每块记录 text / page_start / page_end / chapter 四字段。</a:t>
            </a:r>
            <a:endParaRPr lang="en-US" sz="1350" dirty="0"/>
          </a:p>
        </p:txBody>
      </p:sp>
      <p:sp>
        <p:nvSpPr>
          <p:cNvPr id="20" name="Text 12"/>
          <p:cNvSpPr/>
          <p:nvPr/>
        </p:nvSpPr>
        <p:spPr>
          <a:xfrm>
            <a:off x="6362541" y="3505112"/>
            <a:ext cx="5228714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回应"800~1200 tokens"要求</a:t>
            </a:r>
            <a:endParaRPr lang="en-US" sz="18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541" y="3924202"/>
            <a:ext cx="5219570" cy="952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362541" y="4086123"/>
            <a:ext cx="5228714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A/B 实测：合并到</a:t>
            </a:r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864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tokens 后准确率</a:t>
            </a:r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89.7% → 78.6%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、页码定位</a:t>
            </a:r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93.1% → 85.7%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            按文档"</a:t>
            </a:r>
            <a:endParaRPr lang="en-US" sz="135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或等效粒度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"条款保留章节切（天然单元 475 tokens）。</a:t>
            </a:r>
            <a:endParaRPr lang="en-US" sz="135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585" y="5972026"/>
            <a:ext cx="10972526" cy="9525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609585" y="6172046"/>
            <a:ext cx="10981670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校验脚本 validate_kb：块数与向量数一致 · 页码元数据完整 · 章节覆盖率 142/142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683839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PHASE 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6838398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检索工具：为什么必须双路召回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09585" y="1457289"/>
            <a:ext cx="683839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knowledge_search(query, top_k) → {"text, page_start, page_end, chapter, score, citation"}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09585" y="2333567"/>
            <a:ext cx="46633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A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81070" y="2247844"/>
            <a:ext cx="923521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向量召回</a:t>
            </a:r>
            <a:endParaRPr lang="en-US" sz="18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666933"/>
            <a:ext cx="5257669" cy="95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09585" y="2866953"/>
            <a:ext cx="345710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bge-m3 多语言嵌入，numpy 余弦取 top-20。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609585" y="3152696"/>
            <a:ext cx="35203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擅长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952476" y="3152696"/>
            <a:ext cx="69492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意思相近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585" y="3152696"/>
            <a:ext cx="4695327" cy="47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的问法，但对表格碎片几乎失灵——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            实测换算表 reranker 只给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695408" y="3428914"/>
            <a:ext cx="35203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0.17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2028774" y="3428914"/>
            <a:ext cx="180590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324442" y="2333567"/>
            <a:ext cx="47585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B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905452" y="2247844"/>
            <a:ext cx="1371185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IDF 词汇召回</a:t>
            </a:r>
            <a:endParaRPr lang="en-US" sz="18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2" y="2666933"/>
            <a:ext cx="5257669" cy="952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24442" y="2866953"/>
            <a:ext cx="5171565" cy="47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实词命中越罕见越可信：satay、tablespoons 这类稀有词命中即强信号。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324442" y="3428914"/>
            <a:ext cx="35203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专治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667333" y="3428914"/>
            <a:ext cx="150453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短事实 / 表格 / 数字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8162721" y="3428914"/>
            <a:ext cx="69492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类查询。</a:t>
            </a:r>
            <a:endParaRPr lang="en-US" sz="13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4495688"/>
            <a:ext cx="10972526" cy="97152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3902" y="4733807"/>
            <a:ext cx="196172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923902" y="4962401"/>
            <a:ext cx="196172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两路合并去重</a:t>
            </a:r>
            <a:pPr algn="l"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≤40</a:t>
            </a:r>
            <a:pPr algn="l"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候选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3257469" y="4829054"/>
            <a:ext cx="23773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3867053" y="4733807"/>
            <a:ext cx="305706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RERANK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3867053" y="4962401"/>
            <a:ext cx="305706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cross-encoder 精排 →</a:t>
            </a:r>
            <a:pPr algn="l" indent="0" marL="0">
              <a:buNone/>
            </a:pPr>
            <a:r>
              <a:rPr lang="en-US" sz="15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top-3</a:t>
            </a:r>
            <a:pPr algn="l"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喂 LLM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286643" y="4771906"/>
            <a:ext cx="1990294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检索对了，模型才看得见对的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9439039" y="5019550"/>
            <a:ext cx="1837898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——上下文完整，不做截断</a:t>
            </a:r>
            <a:endParaRPr lang="en-US" sz="12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5972026"/>
            <a:ext cx="10972526" cy="9525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09585" y="6172046"/>
            <a:ext cx="10981670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对应拓展项 E4 混合检索（全文 + 向量融合）与 E5 检索结果重排序（cross-encoder）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6505032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SYSTEM PROMPT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6505032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系统提示词：R1~R6 怎么落到代码里</a:t>
            </a:r>
            <a:endParaRPr lang="en-US" sz="3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019250"/>
            <a:ext cx="10972526" cy="42861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9585" y="2019250"/>
            <a:ext cx="2104592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约束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2705032" y="2019250"/>
            <a:ext cx="8886222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实现位置（可验证）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447864"/>
            <a:ext cx="10972526" cy="55243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09585" y="2447864"/>
            <a:ext cx="2104592" cy="55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R1 先检索</a:t>
            </a:r>
            <a:endParaRPr lang="en-US" sz="1350" dirty="0"/>
          </a:p>
        </p:txBody>
      </p:sp>
      <p:sp>
        <p:nvSpPr>
          <p:cNvPr id="10" name="Text 5"/>
          <p:cNvSpPr/>
          <p:nvPr/>
        </p:nvSpPr>
        <p:spPr>
          <a:xfrm>
            <a:off x="2705032" y="2447864"/>
            <a:ext cx="8886222" cy="55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代码顺序强制：</a:t>
            </a:r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retrieve()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一定在</a:t>
            </a:r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llm_call()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之前</a:t>
            </a:r>
            <a:endParaRPr lang="en-US" sz="13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3000300"/>
            <a:ext cx="10972526" cy="54291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09585" y="3000300"/>
            <a:ext cx="210459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R2 只用教材</a:t>
            </a:r>
            <a:endParaRPr lang="en-US" sz="1350" dirty="0"/>
          </a:p>
        </p:txBody>
      </p:sp>
      <p:sp>
        <p:nvSpPr>
          <p:cNvPr id="13" name="Text 7"/>
          <p:cNvSpPr/>
          <p:nvPr/>
        </p:nvSpPr>
        <p:spPr>
          <a:xfrm>
            <a:off x="2705032" y="3000300"/>
            <a:ext cx="888622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提示词第 1 条 + 资料隔离（只传 3 块原文，不传任何外部知识）</a:t>
            </a:r>
            <a:endParaRPr lang="en-US" sz="13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3543211"/>
            <a:ext cx="10972526" cy="542911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09585" y="3543211"/>
            <a:ext cx="210459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R3 页码引用</a:t>
            </a:r>
            <a:endParaRPr lang="en-US" sz="1350" dirty="0"/>
          </a:p>
        </p:txBody>
      </p:sp>
      <p:sp>
        <p:nvSpPr>
          <p:cNvPr id="16" name="Text 9"/>
          <p:cNvSpPr/>
          <p:nvPr/>
        </p:nvSpPr>
        <p:spPr>
          <a:xfrm>
            <a:off x="2705032" y="3543211"/>
            <a:ext cx="888622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分块带页码 + 提示词规定</a:t>
            </a:r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【教材 p.XX】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格式 + 正则自动核验</a:t>
            </a:r>
            <a:endParaRPr lang="en-US" sz="13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5" y="4086123"/>
            <a:ext cx="10972526" cy="542911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609585" y="4086123"/>
            <a:ext cx="210459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R4 中文 + 术语</a:t>
            </a:r>
            <a:endParaRPr lang="en-US" sz="1350" dirty="0"/>
          </a:p>
        </p:txBody>
      </p:sp>
      <p:sp>
        <p:nvSpPr>
          <p:cNvPr id="19" name="Text 11"/>
          <p:cNvSpPr/>
          <p:nvPr/>
        </p:nvSpPr>
        <p:spPr>
          <a:xfrm>
            <a:off x="2705032" y="4086123"/>
            <a:ext cx="888622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提示词第 4 条：简洁中文，专业术语保留英文原词，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禁止中英拼接造词</a:t>
            </a:r>
            <a:endParaRPr lang="en-US" sz="13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85" y="4629034"/>
            <a:ext cx="10972526" cy="542911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609585" y="4629034"/>
            <a:ext cx="210459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R5 如实拒答</a:t>
            </a:r>
            <a:endParaRPr lang="en-US" sz="1350" dirty="0"/>
          </a:p>
        </p:txBody>
      </p:sp>
      <p:sp>
        <p:nvSpPr>
          <p:cNvPr id="22" name="Text 13"/>
          <p:cNvSpPr/>
          <p:nvPr/>
        </p:nvSpPr>
        <p:spPr>
          <a:xfrm>
            <a:off x="2705032" y="4629034"/>
            <a:ext cx="888622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三档拒答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：完全无关 → "未找到" ｜ 部分相关 → 只答覆盖部分 ｜ 过于宽泛 → 请指明具体对象</a:t>
            </a:r>
            <a:endParaRPr lang="en-US" sz="1350" dirty="0"/>
          </a:p>
        </p:txBody>
      </p:sp>
      <p:sp>
        <p:nvSpPr>
          <p:cNvPr id="23" name="Text 14"/>
          <p:cNvSpPr/>
          <p:nvPr/>
        </p:nvSpPr>
        <p:spPr>
          <a:xfrm>
            <a:off x="609585" y="5171946"/>
            <a:ext cx="210459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R6 不抄原文</a:t>
            </a:r>
            <a:endParaRPr lang="en-US" sz="1350" dirty="0"/>
          </a:p>
        </p:txBody>
      </p:sp>
      <p:sp>
        <p:nvSpPr>
          <p:cNvPr id="24" name="Text 15"/>
          <p:cNvSpPr/>
          <p:nvPr/>
        </p:nvSpPr>
        <p:spPr>
          <a:xfrm>
            <a:off x="2705032" y="5171946"/>
            <a:ext cx="888622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提示词第 5 条（≤2 句引用）+ 最长公共子串自动检测（≥150 字即报警）</a:t>
            </a:r>
            <a:endParaRPr lang="en-US" sz="135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585" y="5933927"/>
            <a:ext cx="10972526" cy="9525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609585" y="6133947"/>
            <a:ext cx="5104892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亮点：拒答不是"没找到就说不知道"，而是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分清三种情况</a:t>
            </a:r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分别处理。</a:t>
            </a:r>
            <a:endParaRPr lang="en-US" sz="1350" dirty="0"/>
          </a:p>
        </p:txBody>
      </p:sp>
      <p:sp>
        <p:nvSpPr>
          <p:cNvPr id="27" name="Text 17"/>
          <p:cNvSpPr/>
          <p:nvPr/>
        </p:nvSpPr>
        <p:spPr>
          <a:xfrm>
            <a:off x="6629234" y="6152996"/>
            <a:ext cx="4971545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提示词独立成文件（prompt/system_prompt.txt），可单独评审与版本管理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952438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REFUSAL GATES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9524381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拒答为什么必须两层：单靠阈值会漏，单靠 LLM 会飘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09585" y="2104972"/>
            <a:ext cx="47585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190595" y="2019250"/>
            <a:ext cx="694927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阈值层</a:t>
            </a:r>
            <a:endParaRPr lang="en-US" sz="1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438339"/>
            <a:ext cx="5257669" cy="7619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09585" y="2743131"/>
            <a:ext cx="72350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检索分 &lt;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323942" y="2743131"/>
            <a:ext cx="25678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562061" y="2743131"/>
            <a:ext cx="94257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且词汇分 &lt;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2495488" y="2743131"/>
            <a:ext cx="35203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2828854" y="2743131"/>
            <a:ext cx="114259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 直接拒答，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952776" y="2743131"/>
            <a:ext cx="69492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不调模型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638559" y="2743131"/>
            <a:ext cx="180590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09585" y="3028874"/>
            <a:ext cx="212364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实测被它拦下的题分数区间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2724082" y="3028874"/>
            <a:ext cx="87589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0.001~0.06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581310" y="3028874"/>
            <a:ext cx="172360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，省钱且零幻觉风险。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6324442" y="2104972"/>
            <a:ext cx="47585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2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905452" y="2019250"/>
            <a:ext cx="818749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LLM 层</a:t>
            </a:r>
            <a:endParaRPr lang="en-US" sz="1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2" y="2438339"/>
            <a:ext cx="5257669" cy="7619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24442" y="2743131"/>
            <a:ext cx="3733326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分数过线也要拦"看着相关、书里没有"的诱导题。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6324442" y="3028874"/>
            <a:ext cx="35203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实证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667333" y="3028874"/>
            <a:ext cx="180590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：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6838779" y="3028874"/>
            <a:ext cx="322851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protein powder brand should I buy?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10058149" y="3028874"/>
            <a:ext cx="62825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检索分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10667733" y="3028874"/>
            <a:ext cx="44728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0.579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6324442" y="3028874"/>
            <a:ext cx="5171565" cy="47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高于阈值，靠 LLM 层识别为书外推荐问题拒答。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4457589"/>
            <a:ext cx="10972526" cy="70483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52476" y="4457589"/>
            <a:ext cx="1063877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反向通道：别把该答的也拦了</a:t>
            </a:r>
            <a:endParaRPr lang="en-US" sz="1800" dirty="0"/>
          </a:p>
        </p:txBody>
      </p:sp>
      <p:sp>
        <p:nvSpPr>
          <p:cNvPr id="30" name="Text 24"/>
          <p:cNvSpPr/>
          <p:nvPr/>
        </p:nvSpPr>
        <p:spPr>
          <a:xfrm>
            <a:off x="952476" y="4876678"/>
            <a:ext cx="1063877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表格 / 短事实类课内题的检索分天然偏低——词汇分 ≥</a:t>
            </a:r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时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绕过阈值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放行交给 LLM 判断，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          避免"1 杯等于几汤匙"这种题被误杀。</a:t>
            </a:r>
            <a:endParaRPr lang="en-US" sz="135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5933927"/>
            <a:ext cx="10972526" cy="9525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09585" y="6133947"/>
            <a:ext cx="4123841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结论：两层各拦一类问题，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每一层都可以被单独测试</a:t>
            </a:r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9296168" y="6152996"/>
            <a:ext cx="2304612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拒答正确率 96% ｜ 课内误杀 1/30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571447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EVAL DESIGN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5714476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测试方法：50 题评测集怎么设计</a:t>
            </a:r>
            <a:endParaRPr lang="en-US" sz="3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019250"/>
            <a:ext cx="2514537" cy="154301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9585" y="2228794"/>
            <a:ext cx="2523681" cy="4190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3300" dirty="0"/>
          </a:p>
        </p:txBody>
      </p:sp>
      <p:sp>
        <p:nvSpPr>
          <p:cNvPr id="7" name="Text 3"/>
          <p:cNvSpPr/>
          <p:nvPr/>
        </p:nvSpPr>
        <p:spPr>
          <a:xfrm>
            <a:off x="609585" y="2762181"/>
            <a:ext cx="2523681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课内题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609585" y="3105072"/>
            <a:ext cx="1075917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书里有明确答案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09585" y="3352716"/>
            <a:ext cx="1256888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期望：回答 + 页码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8914" y="2019250"/>
            <a:ext cx="2514537" cy="154301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428914" y="2228794"/>
            <a:ext cx="2523681" cy="4190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3300" dirty="0"/>
          </a:p>
        </p:txBody>
      </p:sp>
      <p:sp>
        <p:nvSpPr>
          <p:cNvPr id="12" name="Text 7"/>
          <p:cNvSpPr/>
          <p:nvPr/>
        </p:nvSpPr>
        <p:spPr>
          <a:xfrm>
            <a:off x="3428914" y="2762181"/>
            <a:ext cx="2523681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课外题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3428914" y="3105072"/>
            <a:ext cx="923521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书里完全没提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3428914" y="3352716"/>
            <a:ext cx="77112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期望：拒答</a:t>
            </a:r>
            <a:endParaRPr lang="en-US" sz="12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244" y="2019250"/>
            <a:ext cx="2514537" cy="154301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248244" y="2228794"/>
            <a:ext cx="2523681" cy="4190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3300" dirty="0"/>
          </a:p>
        </p:txBody>
      </p:sp>
      <p:sp>
        <p:nvSpPr>
          <p:cNvPr id="17" name="Text 11"/>
          <p:cNvSpPr/>
          <p:nvPr/>
        </p:nvSpPr>
        <p:spPr>
          <a:xfrm>
            <a:off x="6248244" y="2762181"/>
            <a:ext cx="2523681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诱导题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6248244" y="3105072"/>
            <a:ext cx="1228314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看着相关实则书外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6248244" y="3352716"/>
            <a:ext cx="77112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期望：拒答</a:t>
            </a:r>
            <a:endParaRPr lang="en-US" sz="12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573" y="2019250"/>
            <a:ext cx="2514537" cy="1543011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7573" y="2228794"/>
            <a:ext cx="2523681" cy="4190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3300" dirty="0"/>
          </a:p>
        </p:txBody>
      </p:sp>
      <p:sp>
        <p:nvSpPr>
          <p:cNvPr id="22" name="Text 15"/>
          <p:cNvSpPr/>
          <p:nvPr/>
        </p:nvSpPr>
        <p:spPr>
          <a:xfrm>
            <a:off x="9067573" y="2762181"/>
            <a:ext cx="2523681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模糊题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9067573" y="3105072"/>
            <a:ext cx="77112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没指明对象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9067573" y="3352716"/>
            <a:ext cx="1075917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期望：请具体化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609585" y="4114697"/>
            <a:ext cx="5228714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每题带什么标注</a:t>
            </a:r>
            <a:endParaRPr lang="en-US" sz="18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5" y="4533787"/>
            <a:ext cx="5219570" cy="9525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09585" y="4695708"/>
            <a:ext cx="5228714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gold_pages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标准页码（±1 容差判定命中）</a:t>
            </a:r>
            <a:endParaRPr lang="en-US" sz="1350" dirty="0"/>
          </a:p>
        </p:txBody>
      </p:sp>
      <p:sp>
        <p:nvSpPr>
          <p:cNvPr id="28" name="Text 20"/>
          <p:cNvSpPr/>
          <p:nvPr/>
        </p:nvSpPr>
        <p:spPr>
          <a:xfrm>
            <a:off x="609585" y="5057649"/>
            <a:ext cx="5228714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gold_keywords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中英双语关键词（支持 OR 组）</a:t>
            </a:r>
            <a:endParaRPr lang="en-US" sz="1350" dirty="0"/>
          </a:p>
        </p:txBody>
      </p:sp>
      <p:sp>
        <p:nvSpPr>
          <p:cNvPr id="29" name="Text 21"/>
          <p:cNvSpPr/>
          <p:nvPr/>
        </p:nvSpPr>
        <p:spPr>
          <a:xfrm>
            <a:off x="609585" y="5410065"/>
            <a:ext cx="5228714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自动判定：correct / wrong / hallucinated / refuse_correct / refuse_wrong</a:t>
            </a:r>
            <a:endParaRPr lang="en-US" sz="1350" dirty="0"/>
          </a:p>
        </p:txBody>
      </p:sp>
      <p:sp>
        <p:nvSpPr>
          <p:cNvPr id="30" name="Text 22"/>
          <p:cNvSpPr/>
          <p:nvPr/>
        </p:nvSpPr>
        <p:spPr>
          <a:xfrm>
            <a:off x="6362541" y="4114697"/>
            <a:ext cx="5228714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防作弊设计</a:t>
            </a:r>
            <a:endParaRPr lang="en-US" sz="180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541" y="4533787"/>
            <a:ext cx="5219570" cy="9525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362541" y="4695708"/>
            <a:ext cx="5228714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holdout 5 题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（含 1 条库外陷阱题）不参与调优，现场抽问</a:t>
            </a:r>
            <a:endParaRPr lang="en-US" sz="1350" dirty="0"/>
          </a:p>
        </p:txBody>
      </p:sp>
      <p:sp>
        <p:nvSpPr>
          <p:cNvPr id="33" name="Text 24"/>
          <p:cNvSpPr/>
          <p:nvPr/>
        </p:nvSpPr>
        <p:spPr>
          <a:xfrm>
            <a:off x="6362541" y="5057649"/>
            <a:ext cx="5228714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R6 自动检测：回答与资料 ≥150 字连续公共子串即报警</a:t>
            </a:r>
            <a:endParaRPr lang="en-US" sz="1350" dirty="0"/>
          </a:p>
        </p:txBody>
      </p:sp>
      <p:sp>
        <p:nvSpPr>
          <p:cNvPr id="34" name="Text 25"/>
          <p:cNvSpPr/>
          <p:nvPr/>
        </p:nvSpPr>
        <p:spPr>
          <a:xfrm>
            <a:off x="6362541" y="5410065"/>
            <a:ext cx="5228714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逐条留证：问题、分数、回答、命中关键词、页码命中全部落盘</a:t>
            </a:r>
            <a:endParaRPr lang="en-US" sz="135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585" y="5972026"/>
            <a:ext cx="10972526" cy="9525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609585" y="6172046"/>
            <a:ext cx="10981670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60/20/10/10 的题型比例，与课程脚手架对齐；评测脚本 run_eval_v2.py 支持断点续跑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457189"/>
            <a:ext cx="797184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· RESULTS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723882"/>
            <a:ext cx="7971845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测试结果：两条达标线双双通过，换书后指标保持</a:t>
            </a:r>
            <a:endParaRPr lang="en-US" sz="28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1676358"/>
            <a:ext cx="1981150" cy="9905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9585" y="1847804"/>
            <a:ext cx="1990294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96%</a:t>
            </a:r>
            <a:endParaRPr lang="en-US" sz="2550" dirty="0"/>
          </a:p>
        </p:txBody>
      </p:sp>
      <p:sp>
        <p:nvSpPr>
          <p:cNvPr id="7" name="Text 3"/>
          <p:cNvSpPr/>
          <p:nvPr/>
        </p:nvSpPr>
        <p:spPr>
          <a:xfrm>
            <a:off x="609585" y="2266893"/>
            <a:ext cx="77112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拒答正确率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09585" y="2476438"/>
            <a:ext cx="1104492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近三次 96/92/94</a:t>
            </a:r>
            <a:endParaRPr lang="en-US" sz="12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429" y="1676358"/>
            <a:ext cx="1981150" cy="9905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857429" y="1847804"/>
            <a:ext cx="1990294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96.7%</a:t>
            </a:r>
            <a:endParaRPr lang="en-US" sz="2550" dirty="0"/>
          </a:p>
        </p:txBody>
      </p:sp>
      <p:sp>
        <p:nvSpPr>
          <p:cNvPr id="11" name="Text 6"/>
          <p:cNvSpPr/>
          <p:nvPr/>
        </p:nvSpPr>
        <p:spPr>
          <a:xfrm>
            <a:off x="2857429" y="2266893"/>
            <a:ext cx="77112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课内回答率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2857429" y="2476438"/>
            <a:ext cx="39965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29/30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272" y="1676358"/>
            <a:ext cx="1981150" cy="99057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105272" y="1847804"/>
            <a:ext cx="1990294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2550" dirty="0"/>
          </a:p>
        </p:txBody>
      </p:sp>
      <p:sp>
        <p:nvSpPr>
          <p:cNvPr id="15" name="Text 9"/>
          <p:cNvSpPr/>
          <p:nvPr/>
        </p:nvSpPr>
        <p:spPr>
          <a:xfrm>
            <a:off x="5105272" y="2266893"/>
            <a:ext cx="1075917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页码引用覆盖率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5105272" y="2476438"/>
            <a:ext cx="1228314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每个回答都有出处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116" y="1676358"/>
            <a:ext cx="1981150" cy="99057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353116" y="1847804"/>
            <a:ext cx="1990294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96.6%</a:t>
            </a:r>
            <a:endParaRPr lang="en-US" sz="2550" dirty="0"/>
          </a:p>
        </p:txBody>
      </p:sp>
      <p:sp>
        <p:nvSpPr>
          <p:cNvPr id="19" name="Text 12"/>
          <p:cNvSpPr/>
          <p:nvPr/>
        </p:nvSpPr>
        <p:spPr>
          <a:xfrm>
            <a:off x="7353116" y="2266893"/>
            <a:ext cx="1075917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页码定位准确率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7353116" y="2476438"/>
            <a:ext cx="685402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±1 页容差</a:t>
            </a:r>
            <a:endParaRPr lang="en-US" sz="12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0960" y="1676358"/>
            <a:ext cx="1981150" cy="99057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0960" y="1847804"/>
            <a:ext cx="1990294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550" dirty="0"/>
          </a:p>
        </p:txBody>
      </p:sp>
      <p:sp>
        <p:nvSpPr>
          <p:cNvPr id="23" name="Text 15"/>
          <p:cNvSpPr/>
          <p:nvPr/>
        </p:nvSpPr>
        <p:spPr>
          <a:xfrm>
            <a:off x="9600960" y="2266893"/>
            <a:ext cx="1009244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R6 疑似抄原文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9600960" y="2476438"/>
            <a:ext cx="1171165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≥150 字连续 0 条</a:t>
            </a:r>
            <a:endParaRPr lang="en-US" sz="1200" dirty="0"/>
          </a:p>
        </p:txBody>
      </p:sp>
      <p:sp>
        <p:nvSpPr>
          <p:cNvPr id="25" name="Text 17"/>
          <p:cNvSpPr/>
          <p:nvPr/>
        </p:nvSpPr>
        <p:spPr>
          <a:xfrm>
            <a:off x="609585" y="3467013"/>
            <a:ext cx="1098167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换书验证 · 管线与教材解耦</a:t>
            </a:r>
            <a:endParaRPr lang="en-US" sz="9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85" y="3733707"/>
            <a:ext cx="10972526" cy="390515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609585" y="3733707"/>
            <a:ext cx="2476057" cy="390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指标</a:t>
            </a:r>
            <a:endParaRPr lang="en-US" sz="1050" dirty="0"/>
          </a:p>
        </p:txBody>
      </p:sp>
      <p:sp>
        <p:nvSpPr>
          <p:cNvPr id="28" name="Text 19"/>
          <p:cNvSpPr/>
          <p:nvPr/>
        </p:nvSpPr>
        <p:spPr>
          <a:xfrm>
            <a:off x="3076498" y="3733707"/>
            <a:ext cx="4361960" cy="390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Cookbook（英文 · 159 块 · 50 题）</a:t>
            </a:r>
            <a:endParaRPr lang="en-US" sz="1050" dirty="0"/>
          </a:p>
        </p:txBody>
      </p:sp>
      <p:sp>
        <p:nvSpPr>
          <p:cNvPr id="29" name="Text 20"/>
          <p:cNvSpPr/>
          <p:nvPr/>
        </p:nvSpPr>
        <p:spPr>
          <a:xfrm>
            <a:off x="7419790" y="3733707"/>
            <a:ext cx="4180990" cy="390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《原子习惯》（中文 · 58 块 · 30 题）</a:t>
            </a:r>
            <a:endParaRPr lang="en-US" sz="105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585" y="4124222"/>
            <a:ext cx="10972526" cy="438139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09585" y="4124222"/>
            <a:ext cx="247605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拒答正确率</a:t>
            </a:r>
            <a:endParaRPr lang="en-US" sz="1200" dirty="0"/>
          </a:p>
        </p:txBody>
      </p:sp>
      <p:sp>
        <p:nvSpPr>
          <p:cNvPr id="32" name="Text 22"/>
          <p:cNvSpPr/>
          <p:nvPr/>
        </p:nvSpPr>
        <p:spPr>
          <a:xfrm>
            <a:off x="3076498" y="4124222"/>
            <a:ext cx="436196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96%</a:t>
            </a:r>
            <a:endParaRPr lang="en-US" sz="1200" dirty="0"/>
          </a:p>
        </p:txBody>
      </p:sp>
      <p:sp>
        <p:nvSpPr>
          <p:cNvPr id="33" name="Text 23"/>
          <p:cNvSpPr/>
          <p:nvPr/>
        </p:nvSpPr>
        <p:spPr>
          <a:xfrm>
            <a:off x="7419790" y="4124222"/>
            <a:ext cx="418099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90.0%</a:t>
            </a:r>
            <a:endParaRPr lang="en-US" sz="1200" dirty="0"/>
          </a:p>
        </p:txBody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585" y="4562361"/>
            <a:ext cx="10972526" cy="428614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09585" y="4562361"/>
            <a:ext cx="2476057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课内回答率</a:t>
            </a:r>
            <a:endParaRPr lang="en-US" sz="1200" dirty="0"/>
          </a:p>
        </p:txBody>
      </p:sp>
      <p:sp>
        <p:nvSpPr>
          <p:cNvPr id="36" name="Text 25"/>
          <p:cNvSpPr/>
          <p:nvPr/>
        </p:nvSpPr>
        <p:spPr>
          <a:xfrm>
            <a:off x="3076498" y="4562361"/>
            <a:ext cx="4361960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96.7%</a:t>
            </a:r>
            <a:endParaRPr lang="en-US" sz="1200" dirty="0"/>
          </a:p>
        </p:txBody>
      </p:sp>
      <p:sp>
        <p:nvSpPr>
          <p:cNvPr id="37" name="Text 26"/>
          <p:cNvSpPr/>
          <p:nvPr/>
        </p:nvSpPr>
        <p:spPr>
          <a:xfrm>
            <a:off x="7419790" y="4562361"/>
            <a:ext cx="4180990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94.4%</a:t>
            </a:r>
            <a:endParaRPr lang="en-US" sz="1200" dirty="0"/>
          </a:p>
        </p:txBody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585" y="4990975"/>
            <a:ext cx="10972526" cy="428614"/>
          </a:xfrm>
          <a:prstGeom prst="rect">
            <a:avLst/>
          </a:prstGeom>
        </p:spPr>
      </p:pic>
      <p:sp>
        <p:nvSpPr>
          <p:cNvPr id="39" name="Text 27"/>
          <p:cNvSpPr/>
          <p:nvPr/>
        </p:nvSpPr>
        <p:spPr>
          <a:xfrm>
            <a:off x="609585" y="4990975"/>
            <a:ext cx="2476057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页码引用覆盖率</a:t>
            </a:r>
            <a:endParaRPr lang="en-US" sz="1200" dirty="0"/>
          </a:p>
        </p:txBody>
      </p:sp>
      <p:sp>
        <p:nvSpPr>
          <p:cNvPr id="40" name="Text 28"/>
          <p:cNvSpPr/>
          <p:nvPr/>
        </p:nvSpPr>
        <p:spPr>
          <a:xfrm>
            <a:off x="3076498" y="4990975"/>
            <a:ext cx="4361960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1200" dirty="0"/>
          </a:p>
        </p:txBody>
      </p:sp>
      <p:sp>
        <p:nvSpPr>
          <p:cNvPr id="41" name="Text 29"/>
          <p:cNvSpPr/>
          <p:nvPr/>
        </p:nvSpPr>
        <p:spPr>
          <a:xfrm>
            <a:off x="7419790" y="4990975"/>
            <a:ext cx="4180990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1200" dirty="0"/>
          </a:p>
        </p:txBody>
      </p:sp>
      <p:sp>
        <p:nvSpPr>
          <p:cNvPr id="42" name="Text 30"/>
          <p:cNvSpPr/>
          <p:nvPr/>
        </p:nvSpPr>
        <p:spPr>
          <a:xfrm>
            <a:off x="609585" y="5419590"/>
            <a:ext cx="2476057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页码定位准确率</a:t>
            </a:r>
            <a:endParaRPr lang="en-US" sz="1200" dirty="0"/>
          </a:p>
        </p:txBody>
      </p:sp>
      <p:sp>
        <p:nvSpPr>
          <p:cNvPr id="43" name="Text 31"/>
          <p:cNvSpPr/>
          <p:nvPr/>
        </p:nvSpPr>
        <p:spPr>
          <a:xfrm>
            <a:off x="3076498" y="5419590"/>
            <a:ext cx="4361960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96.6%</a:t>
            </a:r>
            <a:endParaRPr lang="en-US" sz="1200" dirty="0"/>
          </a:p>
        </p:txBody>
      </p:sp>
      <p:sp>
        <p:nvSpPr>
          <p:cNvPr id="44" name="Text 32"/>
          <p:cNvSpPr/>
          <p:nvPr/>
        </p:nvSpPr>
        <p:spPr>
          <a:xfrm>
            <a:off x="7419790" y="5419590"/>
            <a:ext cx="4180990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1200" dirty="0"/>
          </a:p>
        </p:txBody>
      </p:sp>
      <p:pic>
        <p:nvPicPr>
          <p:cNvPr id="4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585" y="5781530"/>
            <a:ext cx="10972526" cy="9525"/>
          </a:xfrm>
          <a:prstGeom prst="rect">
            <a:avLst/>
          </a:prstGeom>
        </p:spPr>
      </p:pic>
      <p:sp>
        <p:nvSpPr>
          <p:cNvPr id="46" name="Text 33"/>
          <p:cNvSpPr/>
          <p:nvPr/>
        </p:nvSpPr>
        <p:spPr>
          <a:xfrm>
            <a:off x="609585" y="5943451"/>
            <a:ext cx="5647803" cy="53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换掉题材、语言、结构，指标保持 →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只改一行配置，50 题主线数据一字未动</a:t>
            </a:r>
            <a:endParaRPr lang="en-US" sz="1350" dirty="0"/>
          </a:p>
        </p:txBody>
      </p:sp>
      <p:sp>
        <p:nvSpPr>
          <p:cNvPr id="47" name="Text 34"/>
          <p:cNvSpPr/>
          <p:nvPr/>
        </p:nvSpPr>
        <p:spPr>
          <a:xfrm>
            <a:off x="6248244" y="6000600"/>
            <a:ext cx="5343011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主动披露：英文主线方差 ±4pp（96/92/94）；中文库受免费 API 波动影响更大（三次 90.0/70.0/76.7），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          但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页码引用与定位始终 100%</a:t>
            </a:r>
            <a:pPr algn="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、检索层零漂移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6905072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· ITERATION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6905072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四轮迭代：从"指标不动"到"修掉根因"</a:t>
            </a:r>
            <a:endParaRPr lang="en-US" sz="3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019250"/>
            <a:ext cx="10972526" cy="42861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9585" y="2019250"/>
            <a:ext cx="866373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轮次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1466813" y="2019250"/>
            <a:ext cx="3476157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改动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4933827" y="2019250"/>
            <a:ext cx="1533106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拒答正确率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457789" y="2019250"/>
            <a:ext cx="5142991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结论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447864"/>
            <a:ext cx="10972526" cy="59053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9585" y="2447864"/>
            <a:ext cx="866373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1466813" y="2447864"/>
            <a:ext cx="3476157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基线：纯向量 + 单阈值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4933827" y="2447864"/>
            <a:ext cx="1533106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87.5%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6457789" y="2447864"/>
            <a:ext cx="5142991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—</a:t>
            </a:r>
            <a:endParaRPr lang="en-US" sz="13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3038399"/>
            <a:ext cx="10972526" cy="84770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09585" y="3038399"/>
            <a:ext cx="866373" cy="847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466813" y="3038399"/>
            <a:ext cx="3476157" cy="847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加混合召回 + 重写 Prompt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4933827" y="3038399"/>
            <a:ext cx="1533106" cy="847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87.5%（零提升）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57789" y="3038399"/>
            <a:ext cx="5142991" cy="847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改动生效了吗？没有 → 查数据管道</a:t>
            </a:r>
            <a:endParaRPr lang="en-US" sz="135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3886103"/>
            <a:ext cx="10972526" cy="58101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09585" y="3886103"/>
            <a:ext cx="866373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R3</a:t>
            </a:r>
            <a:endParaRPr lang="en-US" sz="1350" dirty="0"/>
          </a:p>
        </p:txBody>
      </p:sp>
      <p:sp>
        <p:nvSpPr>
          <p:cNvPr id="22" name="Text 15"/>
          <p:cNvSpPr/>
          <p:nvPr/>
        </p:nvSpPr>
        <p:spPr>
          <a:xfrm>
            <a:off x="1466813" y="3886103"/>
            <a:ext cx="3476157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修复 context 截断 bug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4933827" y="3886103"/>
            <a:ext cx="1533106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93.8%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6457789" y="3886103"/>
            <a:ext cx="514299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真凶：</a:t>
            </a:r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text[:2000]</a:t>
            </a:r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把 38% 长块后半段切掉了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609585" y="4467113"/>
            <a:ext cx="866373" cy="847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R4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1466813" y="4467113"/>
            <a:ext cx="3476157" cy="847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表格结构化（find_tables）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4933827" y="4467113"/>
            <a:ext cx="1533106" cy="847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90.5%（50 题严格口径）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457789" y="4467113"/>
            <a:ext cx="5142991" cy="847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页码定位 93.1% → 96.6%</a:t>
            </a:r>
            <a:endParaRPr lang="en-US" sz="135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5" y="5524362"/>
            <a:ext cx="10972526" cy="9525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609585" y="5724382"/>
            <a:ext cx="10981670" cy="3428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教训：</a:t>
            </a:r>
            <a:pPr algn="l" indent="0" marL="0">
              <a:buNone/>
            </a:pPr>
            <a:r>
              <a:rPr lang="en-US" sz="1950" dirty="0">
                <a:solidFill>
                  <a:srgbClr val="B044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指标异常时，先查数据管道，别急着换算法。</a:t>
            </a:r>
            <a:endParaRPr lang="en-US" sz="1950" dirty="0"/>
          </a:p>
        </p:txBody>
      </p:sp>
      <p:sp>
        <p:nvSpPr>
          <p:cNvPr id="31" name="Text 23"/>
          <p:cNvSpPr/>
          <p:nvPr/>
        </p:nvSpPr>
        <p:spPr>
          <a:xfrm>
            <a:off x="609585" y="6133947"/>
            <a:ext cx="1098167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R2 的"零提升"不是方法错了，是上下文在喂给模型之前就被自己截断了——检索对了，模型看不见。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881002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FAILURE CASE 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8810024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失败案例：模型偷偷换掉食材，而页码和数字全对</a:t>
            </a:r>
            <a:endParaRPr lang="en-US" sz="3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019250"/>
            <a:ext cx="10972526" cy="104772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23902" y="2257369"/>
            <a:ext cx="1035303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923902" y="2524062"/>
            <a:ext cx="10353035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to make Swedish meatballs?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09585" y="3447964"/>
            <a:ext cx="526681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教材原文</a:t>
            </a:r>
            <a:endParaRPr lang="en-US" sz="9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3714657"/>
            <a:ext cx="5257669" cy="95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09585" y="3876578"/>
            <a:ext cx="5266813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食材写的是</a:t>
            </a:r>
            <a:pPr algn="l" indent="0" marL="0">
              <a:buNone/>
            </a:pPr>
            <a:r>
              <a:rPr lang="en-US" sz="18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 turkey</a:t>
            </a:r>
            <a:pPr algn="l" indent="0" marL="0">
              <a:buNone/>
            </a:pPr>
            <a:r>
              <a:rPr lang="en-US" sz="150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（火鸡肉末）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6324442" y="3447964"/>
            <a:ext cx="526681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系统回答</a:t>
            </a:r>
            <a:endParaRPr lang="en-US" sz="9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442" y="3714657"/>
            <a:ext cx="5257669" cy="952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324442" y="3876578"/>
            <a:ext cx="5266813" cy="323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答成了</a:t>
            </a:r>
            <a:pPr algn="l" indent="0" marL="0">
              <a:buNone/>
            </a:pPr>
            <a:r>
              <a:rPr lang="en-US" sz="1800" dirty="0">
                <a:solidFill>
                  <a:srgbClr val="B044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"鸡胸肉或牛肉末"</a:t>
            </a:r>
            <a:endParaRPr lang="en-US" sz="1500" dirty="0"/>
          </a:p>
        </p:txBody>
      </p:sp>
      <p:sp>
        <p:nvSpPr>
          <p:cNvPr id="14" name="Text 8"/>
          <p:cNvSpPr/>
          <p:nvPr/>
        </p:nvSpPr>
        <p:spPr>
          <a:xfrm>
            <a:off x="609585" y="4686183"/>
            <a:ext cx="5266813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根因：菜谱常识压过教材原文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09585" y="5067173"/>
            <a:ext cx="5266813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模型"知道"瑞典肉丸常用牛肉，就顺手替换了——这是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R2 最隐蔽的违规方式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6324442" y="4686183"/>
            <a:ext cx="5266813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为什么难发现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6324442" y="5067173"/>
            <a:ext cx="5266813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页码对、数字对、步骤也对，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只有实体错了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            自动指标全绿，只有人读才能抓到。</a:t>
            </a:r>
            <a:endParaRPr lang="en-US" sz="13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6133947"/>
            <a:ext cx="10972526" cy="26669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52476" y="6133947"/>
            <a:ext cx="1063877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改进方向：生成后抽取食材做集合比对，与检索原文不一致就打回重答。</a:t>
            </a:r>
            <a:pPr algn="l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（列入 P1 待办，本期未完成）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818139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FAILURE CASE 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8181390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失败案例：PDF 表格被压平，1 杯变成 16 汤匙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09585" y="2057349"/>
            <a:ext cx="3419009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题目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09585" y="2371666"/>
            <a:ext cx="1990294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many tablespoons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09585" y="2685983"/>
            <a:ext cx="1323561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 in one cup?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400440" y="2057349"/>
            <a:ext cx="3419009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错误答案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400440" y="2324042"/>
            <a:ext cx="3419009" cy="380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tbsp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400440" y="2781230"/>
            <a:ext cx="3419009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系统答错，差一倍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81770" y="2057349"/>
            <a:ext cx="3419009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正确答案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181770" y="2324042"/>
            <a:ext cx="3419009" cy="380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tbsp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181770" y="2781230"/>
            <a:ext cx="3419009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修复后稳定回答，附【教材 p.14】</a:t>
            </a:r>
            <a:endParaRPr lang="en-US" sz="12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3695608"/>
            <a:ext cx="10972526" cy="139061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23902" y="3933727"/>
            <a:ext cx="1035303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根因：两列表被提取成一行连续文本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923902" y="4200420"/>
            <a:ext cx="10353035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"3 tsp　1 tbsp　8 tbsp　1 cup　16 oz　1 lb"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923902" y="4600460"/>
            <a:ext cx="10353035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行列关系丢失后，</a:t>
            </a:r>
            <a:pPr algn="l" indent="0" marL="0">
              <a:buNone/>
            </a:pPr>
            <a:r>
              <a:rPr lang="en-US" sz="12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oz</a:t>
            </a:r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被错配给了</a:t>
            </a:r>
            <a:pPr algn="l" indent="0" marL="0">
              <a:buNone/>
            </a:pPr>
            <a:r>
              <a:rPr lang="en-US" sz="12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tbsp</a:t>
            </a:r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——文字看着都对，答案错了</a:t>
            </a:r>
            <a:endParaRPr lang="en-US" sz="12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5448164"/>
            <a:ext cx="10972526" cy="61911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52476" y="5448164"/>
            <a:ext cx="10638778" cy="619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修复：</a:t>
            </a:r>
            <a:pPr algn="l" indent="0" marL="0">
              <a:buNone/>
            </a:pPr>
            <a:r>
              <a:rPr lang="en-US" sz="15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page.find_tables()</a:t>
            </a:r>
            <a:pPr algn="l" indent="0" marL="0">
              <a:buNone/>
            </a:pPr>
            <a:r>
              <a:rPr lang="en-US" sz="150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抽表 → 转成结构化句子</a:t>
            </a:r>
            <a:pPr algn="l"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"8 tbsp = 1 cup"</a:t>
            </a:r>
            <a:pPr algn="l" indent="0" marL="0">
              <a:buNone/>
            </a:pPr>
            <a:r>
              <a:rPr lang="en-US" sz="150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单独成块；过滤噪音表只留 21 个真数据表。</a:t>
            </a:r>
            <a:pPr algn="l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页码定位 93.1% → 96.6%</a:t>
            </a:r>
            <a:pPr algn="l" indent="0" marL="0">
              <a:buNone/>
            </a:pPr>
            <a:r>
              <a:rPr lang="en-US" sz="150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746703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· LIVE DEMO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7467033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现场演示：三题走完全部链路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09585" y="1457289"/>
            <a:ext cx="7467033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python webui.py → 浏览器；每答完一题展开"检索到的原文片段"，可见页码、章节、reranker 分数</a:t>
            </a:r>
            <a:endParaRPr lang="en-US" sz="13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209745"/>
            <a:ext cx="3409865" cy="107629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00080" y="2209745"/>
            <a:ext cx="322851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题 1 · 课内 + 中文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00080" y="2438339"/>
            <a:ext cx="3228514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蛋白小食烤箱要多少度、烤多久？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00080" y="2828854"/>
            <a:ext cx="2123641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期望：查询翻译 → 英文检索 →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00080" y="3076498"/>
            <a:ext cx="201886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400°F / 10 分钟【教材 p.27】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440" y="2209745"/>
            <a:ext cx="3409865" cy="107629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590935" y="2209745"/>
            <a:ext cx="322851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题 2 · 课外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4590935" y="2438339"/>
            <a:ext cx="3228514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What is the capital of France?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4590935" y="2828854"/>
            <a:ext cx="1885522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期望：阈值层拒答（检索分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457789" y="2828854"/>
            <a:ext cx="39965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0.009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838779" y="2828854"/>
            <a:ext cx="161540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590935" y="3076498"/>
            <a:ext cx="81874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 页面显示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391015" y="3076498"/>
            <a:ext cx="1409284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044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自动开工单 + 工单号</a:t>
            </a:r>
            <a:endParaRPr lang="en-US" sz="12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1770" y="2209745"/>
            <a:ext cx="3409865" cy="107629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72266" y="2209745"/>
            <a:ext cx="322851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题 3 · 转人工闭环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8372266" y="2438339"/>
            <a:ext cx="3228514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打开 /handoff 人工工作台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8372266" y="2828854"/>
            <a:ext cx="1685502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期望：看到刚生成的工单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8372266" y="3076498"/>
            <a:ext cx="1733126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 点"开始处理"→ 状态变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0086723" y="3076498"/>
            <a:ext cx="466333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044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已处理</a:t>
            </a:r>
            <a:endParaRPr lang="en-US" sz="12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4609985"/>
            <a:ext cx="10972526" cy="952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09585" y="4848104"/>
            <a:ext cx="526681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高风险样本（若被质疑可以现场跑）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609585" y="5152896"/>
            <a:ext cx="322851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protein powder brand should I buy?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09585" y="5457689"/>
            <a:ext cx="2618929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检索分 0.579 过阈值 → 靠 LLM 层拒答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6324442" y="4848104"/>
            <a:ext cx="526681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现场抽题（不参与调优）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324442" y="5152896"/>
            <a:ext cx="2733226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do I make sushi rolls at home?</a:t>
            </a:r>
            <a:endParaRPr lang="en-US" sz="1350" dirty="0"/>
          </a:p>
        </p:txBody>
      </p:sp>
      <p:sp>
        <p:nvSpPr>
          <p:cNvPr id="31" name="Text 24"/>
          <p:cNvSpPr/>
          <p:nvPr/>
        </p:nvSpPr>
        <p:spPr>
          <a:xfrm>
            <a:off x="6324442" y="5457689"/>
            <a:ext cx="1314036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书里没有 → 应拒答</a:t>
            </a:r>
            <a:endParaRPr lang="en-US" sz="120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5" y="5933927"/>
            <a:ext cx="10972526" cy="9525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09585" y="6133947"/>
            <a:ext cx="1098167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演示顺序即架构顺序：翻译 → 检索 → 拒答 → 生成 → 引用 → 转人工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640978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· ENGINEERING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6409784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工程规范：换一本书，只改一行配置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09585" y="2019250"/>
            <a:ext cx="1098167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模块划分（每个环节可独立验证）</a:t>
            </a:r>
            <a:endParaRPr lang="en-US" sz="9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324042"/>
            <a:ext cx="2628834" cy="7810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09605" y="2485963"/>
            <a:ext cx="2237938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config.py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809605" y="2752656"/>
            <a:ext cx="223793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阈值 / 模型 / 路径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815" y="2324042"/>
            <a:ext cx="2628834" cy="7810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590835" y="2485963"/>
            <a:ext cx="2237938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build_kb.py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3590835" y="2752656"/>
            <a:ext cx="223793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提取 / 分块 / 向量化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046" y="2324042"/>
            <a:ext cx="2628834" cy="78103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372066" y="2485963"/>
            <a:ext cx="2237938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rag.py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6372066" y="2752656"/>
            <a:ext cx="223793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翻译 / 检索 / 生成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276" y="2324042"/>
            <a:ext cx="2628834" cy="78103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9153296" y="2485963"/>
            <a:ext cx="2237938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run_eval_v2.py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9153296" y="2752656"/>
            <a:ext cx="223793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评测 / 判定 / 统计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609585" y="3771806"/>
            <a:ext cx="5266813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换书流程（3 步）</a:t>
            </a:r>
            <a:endParaRPr lang="en-US" sz="15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5" y="4152796"/>
            <a:ext cx="5257669" cy="952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09585" y="4381390"/>
            <a:ext cx="2885622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BOOK_PATH=新书.pdf python build_kb.py</a:t>
            </a:r>
            <a:endParaRPr lang="en-US" sz="1200" dirty="0"/>
          </a:p>
        </p:txBody>
      </p:sp>
      <p:sp>
        <p:nvSpPr>
          <p:cNvPr id="21" name="Text 13"/>
          <p:cNvSpPr/>
          <p:nvPr/>
        </p:nvSpPr>
        <p:spPr>
          <a:xfrm>
            <a:off x="609585" y="4686183"/>
            <a:ext cx="1533106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validate_kb.py 校验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609585" y="4990975"/>
            <a:ext cx="1742651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run_eval_v2.py 跑评测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609585" y="5343391"/>
            <a:ext cx="5266813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多书并存用 KB_VECTORS / KB_CHUNKS 环境变量隔离，互不覆盖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6324442" y="3771806"/>
            <a:ext cx="5266813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交付物与安全</a:t>
            </a:r>
            <a:endParaRPr lang="en-US" sz="150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4442" y="4152796"/>
            <a:ext cx="5257669" cy="9525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324442" y="4314717"/>
            <a:ext cx="5266813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提示词独立成文件（prompt/system_prompt.txt），可单独评审</a:t>
            </a:r>
            <a:endParaRPr lang="en-US" sz="1200" dirty="0"/>
          </a:p>
        </p:txBody>
      </p:sp>
      <p:sp>
        <p:nvSpPr>
          <p:cNvPr id="27" name="Text 18"/>
          <p:cNvSpPr/>
          <p:nvPr/>
        </p:nvSpPr>
        <p:spPr>
          <a:xfrm>
            <a:off x="6324442" y="4638559"/>
            <a:ext cx="5266813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API Key 走 .env，已被 gitignore，仓库无明文</a:t>
            </a:r>
            <a:endParaRPr lang="en-US" sz="1200" dirty="0"/>
          </a:p>
        </p:txBody>
      </p:sp>
      <p:sp>
        <p:nvSpPr>
          <p:cNvPr id="28" name="Text 19"/>
          <p:cNvSpPr/>
          <p:nvPr/>
        </p:nvSpPr>
        <p:spPr>
          <a:xfrm>
            <a:off x="6324442" y="4962401"/>
            <a:ext cx="5266813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代码注释 + README + 一键流程：build → validate → eval → judge</a:t>
            </a:r>
            <a:endParaRPr lang="en-US" sz="1200" dirty="0"/>
          </a:p>
        </p:txBody>
      </p:sp>
      <p:sp>
        <p:nvSpPr>
          <p:cNvPr id="29" name="Text 20"/>
          <p:cNvSpPr/>
          <p:nvPr/>
        </p:nvSpPr>
        <p:spPr>
          <a:xfrm>
            <a:off x="6324442" y="5286243"/>
            <a:ext cx="5266813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支持云部署（Procfile），答辩可现场跑</a:t>
            </a:r>
            <a:endParaRPr lang="en-US" sz="12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585" y="5933927"/>
            <a:ext cx="10972526" cy="9525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09585" y="6133947"/>
            <a:ext cx="1098167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管线与教材解耦：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已在 2 本书上验证</a:t>
            </a:r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（英文 Cookbook 205 页 / 中文《原子习惯》286 页）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600974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· EXTENSIONS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6009744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拓展挑战：文档 7 项里已拿下 5 项</a:t>
            </a:r>
            <a:endParaRPr lang="en-US" sz="3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019250"/>
            <a:ext cx="10972526" cy="42861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9585" y="2019250"/>
            <a:ext cx="885422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状态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1485863" y="2019250"/>
            <a:ext cx="3152315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拓展项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4629034" y="2019250"/>
            <a:ext cx="6962220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我们的实现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447864"/>
            <a:ext cx="10972526" cy="8191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09585" y="2447864"/>
            <a:ext cx="885422" cy="819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E1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1485863" y="2447864"/>
            <a:ext cx="3152315" cy="819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多语言支持（中英文教材 + 自动切换）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4629034" y="2447864"/>
            <a:ext cx="6962220" cy="819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双库并存 + KB_LANG 语言开关；中文 30 题拒答 90%、页码定位 100%</a:t>
            </a:r>
            <a:endParaRPr lang="en-US" sz="13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3266993"/>
            <a:ext cx="10972526" cy="54291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09585" y="3266993"/>
            <a:ext cx="88542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E4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1485863" y="3266993"/>
            <a:ext cx="315231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混合检索（全文 + 向量融合）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4629034" y="3266993"/>
            <a:ext cx="6962220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IDF 加权词汇 + bge-m3 向量，两路合并 + A/B 对比实验</a:t>
            </a:r>
            <a:endParaRPr lang="en-US" sz="13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3809905"/>
            <a:ext cx="10972526" cy="542911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09585" y="3809905"/>
            <a:ext cx="88542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E5</a:t>
            </a:r>
            <a:endParaRPr lang="en-US" sz="1350" dirty="0"/>
          </a:p>
        </p:txBody>
      </p:sp>
      <p:sp>
        <p:nvSpPr>
          <p:cNvPr id="19" name="Text 12"/>
          <p:cNvSpPr/>
          <p:nvPr/>
        </p:nvSpPr>
        <p:spPr>
          <a:xfrm>
            <a:off x="1485863" y="3809905"/>
            <a:ext cx="315231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检索结果重排序</a:t>
            </a:r>
            <a:endParaRPr lang="en-US" sz="1350" dirty="0"/>
          </a:p>
        </p:txBody>
      </p:sp>
      <p:sp>
        <p:nvSpPr>
          <p:cNvPr id="20" name="Text 13"/>
          <p:cNvSpPr/>
          <p:nvPr/>
        </p:nvSpPr>
        <p:spPr>
          <a:xfrm>
            <a:off x="4629034" y="3809905"/>
            <a:ext cx="6962220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bge-reranker-v2-m3 交叉编码器，40 → 3 候选</a:t>
            </a:r>
            <a:endParaRPr lang="en-US" sz="13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5" y="4352816"/>
            <a:ext cx="10972526" cy="542911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09585" y="4352816"/>
            <a:ext cx="88542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E6</a:t>
            </a:r>
            <a:endParaRPr lang="en-US" sz="1350" dirty="0"/>
          </a:p>
        </p:txBody>
      </p:sp>
      <p:sp>
        <p:nvSpPr>
          <p:cNvPr id="23" name="Text 15"/>
          <p:cNvSpPr/>
          <p:nvPr/>
        </p:nvSpPr>
        <p:spPr>
          <a:xfrm>
            <a:off x="1485863" y="4352816"/>
            <a:ext cx="315231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可视化界面</a:t>
            </a:r>
            <a:endParaRPr lang="en-US" sz="1350" dirty="0"/>
          </a:p>
        </p:txBody>
      </p:sp>
      <p:sp>
        <p:nvSpPr>
          <p:cNvPr id="24" name="Text 16"/>
          <p:cNvSpPr/>
          <p:nvPr/>
        </p:nvSpPr>
        <p:spPr>
          <a:xfrm>
            <a:off x="4629034" y="4352816"/>
            <a:ext cx="6962220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零依赖 Web UI + /handoff 人工工作台（含工单统计、接单、刷新）</a:t>
            </a:r>
            <a:endParaRPr lang="en-US" sz="135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85" y="4895728"/>
            <a:ext cx="10972526" cy="542911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09585" y="4895728"/>
            <a:ext cx="88542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E7</a:t>
            </a:r>
            <a:endParaRPr lang="en-US" sz="1350" dirty="0"/>
          </a:p>
        </p:txBody>
      </p:sp>
      <p:sp>
        <p:nvSpPr>
          <p:cNvPr id="27" name="Text 18"/>
          <p:cNvSpPr/>
          <p:nvPr/>
        </p:nvSpPr>
        <p:spPr>
          <a:xfrm>
            <a:off x="1485863" y="4895728"/>
            <a:ext cx="315231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对比实验（同一教材不同检索）</a:t>
            </a:r>
            <a:endParaRPr lang="en-US" sz="1350" dirty="0"/>
          </a:p>
        </p:txBody>
      </p:sp>
      <p:sp>
        <p:nvSpPr>
          <p:cNvPr id="28" name="Text 19"/>
          <p:cNvSpPr/>
          <p:nvPr/>
        </p:nvSpPr>
        <p:spPr>
          <a:xfrm>
            <a:off x="4629034" y="4895728"/>
            <a:ext cx="6962220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混合召回 vs 纯向量（逐题一救一伤）+ 章节切 vs 合并切（+11.1pp）</a:t>
            </a:r>
            <a:endParaRPr lang="en-US" sz="1350" dirty="0"/>
          </a:p>
        </p:txBody>
      </p:sp>
      <p:sp>
        <p:nvSpPr>
          <p:cNvPr id="29" name="Text 20"/>
          <p:cNvSpPr/>
          <p:nvPr/>
        </p:nvSpPr>
        <p:spPr>
          <a:xfrm>
            <a:off x="609585" y="5438639"/>
            <a:ext cx="88542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E2/E3</a:t>
            </a:r>
            <a:endParaRPr lang="en-US" sz="1350" dirty="0"/>
          </a:p>
        </p:txBody>
      </p:sp>
      <p:sp>
        <p:nvSpPr>
          <p:cNvPr id="30" name="Text 21"/>
          <p:cNvSpPr/>
          <p:nvPr/>
        </p:nvSpPr>
        <p:spPr>
          <a:xfrm>
            <a:off x="1485863" y="5438639"/>
            <a:ext cx="315231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多轮对话 / 增量更新</a:t>
            </a:r>
            <a:endParaRPr lang="en-US" sz="1350" dirty="0"/>
          </a:p>
        </p:txBody>
      </p:sp>
      <p:sp>
        <p:nvSpPr>
          <p:cNvPr id="31" name="Text 22"/>
          <p:cNvSpPr/>
          <p:nvPr/>
        </p:nvSpPr>
        <p:spPr>
          <a:xfrm>
            <a:off x="4629034" y="5438639"/>
            <a:ext cx="6962220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未做（时间留给交付物完整性，见下一页取舍）</a:t>
            </a:r>
            <a:endParaRPr lang="en-US" sz="13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585" y="5933927"/>
            <a:ext cx="10972526" cy="9525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609585" y="6133947"/>
            <a:ext cx="1098167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另加两项文档之外：查询翻译层（对应第十节 N6「embedding 适配教材语言」）· 自动转人工（对齐课堂要求）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457189"/>
            <a:ext cx="8019469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· QUERY TRANSLATION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723882"/>
            <a:ext cx="8019469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查询翻译层：一个"分数很高却答不出"的隐蔽失败</a:t>
            </a:r>
            <a:endParaRPr lang="en-US" sz="2850" dirty="0"/>
          </a:p>
        </p:txBody>
      </p:sp>
      <p:sp>
        <p:nvSpPr>
          <p:cNvPr id="5" name="Text 2"/>
          <p:cNvSpPr/>
          <p:nvPr/>
        </p:nvSpPr>
        <p:spPr>
          <a:xfrm>
            <a:off x="609585" y="1638259"/>
            <a:ext cx="346663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现象</a:t>
            </a:r>
            <a:endParaRPr lang="en-US" sz="9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1866853"/>
            <a:ext cx="3457489" cy="95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09585" y="1990675"/>
            <a:ext cx="3466633" cy="60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英文知识库 + 中文提问，课内题假拒答率</a:t>
            </a:r>
            <a:pPr algn="l" indent="0" marL="0">
              <a:buNone/>
            </a:pPr>
            <a:r>
              <a:rPr lang="en-US" sz="18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25%</a:t>
            </a:r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（英文基线 3%）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4371866" y="1638259"/>
            <a:ext cx="346663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隐蔽点</a:t>
            </a:r>
            <a:endParaRPr lang="en-US" sz="9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866" y="1866853"/>
            <a:ext cx="3457489" cy="95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71866" y="1990675"/>
            <a:ext cx="3466633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i03 怎么做高蛋白千层面</a:t>
            </a:r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top=</a:t>
            </a:r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0.457</a:t>
            </a:r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已过阈值，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            但检索到的是错的段落 → 模型只能拒答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8134147" y="1638259"/>
            <a:ext cx="346663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业界依据</a:t>
            </a:r>
            <a:endParaRPr lang="en-US" sz="9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4147" y="1866853"/>
            <a:ext cx="3457489" cy="952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134147" y="1990675"/>
            <a:ext cx="3466633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跨语言 RAG 三种主流范式之一（Translate-Query-Retrieve）；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            中文工程实测：翻译枢纽后命中 71% → 80%</a:t>
            </a:r>
            <a:endParaRPr lang="en-US" sz="13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3390815"/>
            <a:ext cx="10972526" cy="1266793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23902" y="3628934"/>
            <a:ext cx="487629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实现</a:t>
            </a:r>
            <a:endParaRPr lang="en-US" sz="900" dirty="0"/>
          </a:p>
        </p:txBody>
      </p:sp>
      <p:sp>
        <p:nvSpPr>
          <p:cNvPr id="16" name="Text 9"/>
          <p:cNvSpPr/>
          <p:nvPr/>
        </p:nvSpPr>
        <p:spPr>
          <a:xfrm>
            <a:off x="923902" y="3857529"/>
            <a:ext cx="4876297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CJK 检测 → LLM 译成英文检索式 → 进程内缓存 →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三级降级</a:t>
            </a:r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（失败 / 超时 / 译文仍含中文都回原句）</a:t>
            </a:r>
            <a:endParaRPr lang="en-US" sz="13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48" y="3762281"/>
            <a:ext cx="9525" cy="533387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6410165" y="3628934"/>
            <a:ext cx="487629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关键设计</a:t>
            </a:r>
            <a:endParaRPr lang="en-US" sz="900" dirty="0"/>
          </a:p>
        </p:txBody>
      </p:sp>
      <p:sp>
        <p:nvSpPr>
          <p:cNvPr id="19" name="Text 11"/>
          <p:cNvSpPr/>
          <p:nvPr/>
        </p:nvSpPr>
        <p:spPr>
          <a:xfrm>
            <a:off x="6410165" y="3857529"/>
            <a:ext cx="4876297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检索用译文，生成仍用原始中文问题</a:t>
            </a:r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——回答语言、页码引用规则零影响</a:t>
            </a:r>
            <a:endParaRPr lang="en-US" sz="13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85" y="5029074"/>
            <a:ext cx="2514537" cy="97152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609585" y="5200520"/>
            <a:ext cx="2523681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→ 0</a:t>
            </a:r>
            <a:endParaRPr lang="en-US" sz="2400" dirty="0"/>
          </a:p>
        </p:txBody>
      </p:sp>
      <p:sp>
        <p:nvSpPr>
          <p:cNvPr id="22" name="Text 13"/>
          <p:cNvSpPr/>
          <p:nvPr/>
        </p:nvSpPr>
        <p:spPr>
          <a:xfrm>
            <a:off x="609585" y="5600560"/>
            <a:ext cx="1180690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中文 12 题拒答数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609585" y="5810105"/>
            <a:ext cx="1275937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假拒答 25% → 0%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8914" y="5029074"/>
            <a:ext cx="2514537" cy="971526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3428914" y="5200520"/>
            <a:ext cx="2523681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3/3</a:t>
            </a:r>
            <a:endParaRPr lang="en-US" sz="2400" dirty="0"/>
          </a:p>
        </p:txBody>
      </p:sp>
      <p:sp>
        <p:nvSpPr>
          <p:cNvPr id="26" name="Text 16"/>
          <p:cNvSpPr/>
          <p:nvPr/>
        </p:nvSpPr>
        <p:spPr>
          <a:xfrm>
            <a:off x="3428914" y="5600560"/>
            <a:ext cx="1380710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隐蔽失败题全部救回</a:t>
            </a:r>
            <a:endParaRPr lang="en-US" sz="1200" dirty="0"/>
          </a:p>
        </p:txBody>
      </p:sp>
      <p:sp>
        <p:nvSpPr>
          <p:cNvPr id="27" name="Text 17"/>
          <p:cNvSpPr/>
          <p:nvPr/>
        </p:nvSpPr>
        <p:spPr>
          <a:xfrm>
            <a:off x="3428914" y="5810105"/>
            <a:ext cx="875897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i03 / i04 / i07</a:t>
            </a:r>
            <a:endParaRPr lang="en-US" sz="1200" dirty="0"/>
          </a:p>
        </p:txBody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244" y="5029074"/>
            <a:ext cx="2514537" cy="971526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248244" y="5200520"/>
            <a:ext cx="2523681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400" dirty="0"/>
          </a:p>
        </p:txBody>
      </p:sp>
      <p:sp>
        <p:nvSpPr>
          <p:cNvPr id="30" name="Text 19"/>
          <p:cNvSpPr/>
          <p:nvPr/>
        </p:nvSpPr>
        <p:spPr>
          <a:xfrm>
            <a:off x="6248244" y="5600560"/>
            <a:ext cx="1228314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英文路径触发次数</a:t>
            </a:r>
            <a:endParaRPr lang="en-US" sz="1200" dirty="0"/>
          </a:p>
        </p:txBody>
      </p:sp>
      <p:sp>
        <p:nvSpPr>
          <p:cNvPr id="31" name="Text 20"/>
          <p:cNvSpPr/>
          <p:nvPr/>
        </p:nvSpPr>
        <p:spPr>
          <a:xfrm>
            <a:off x="6248244" y="5810105"/>
            <a:ext cx="923521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代码级零侵入</a:t>
            </a:r>
            <a:endParaRPr lang="en-US" sz="1200" dirty="0"/>
          </a:p>
        </p:txBody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67573" y="5029074"/>
            <a:ext cx="2514537" cy="97152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9067573" y="5200520"/>
            <a:ext cx="2523681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C19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400" dirty="0"/>
          </a:p>
        </p:txBody>
      </p:sp>
      <p:sp>
        <p:nvSpPr>
          <p:cNvPr id="34" name="Text 22"/>
          <p:cNvSpPr/>
          <p:nvPr/>
        </p:nvSpPr>
        <p:spPr>
          <a:xfrm>
            <a:off x="9067573" y="5600560"/>
            <a:ext cx="1437858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检索漂移 &gt; 0.15 的题</a:t>
            </a:r>
            <a:endParaRPr lang="en-US" sz="1200" dirty="0"/>
          </a:p>
        </p:txBody>
      </p:sp>
      <p:sp>
        <p:nvSpPr>
          <p:cNvPr id="35" name="Text 23"/>
          <p:cNvSpPr/>
          <p:nvPr/>
        </p:nvSpPr>
        <p:spPr>
          <a:xfrm>
            <a:off x="9067573" y="5810105"/>
            <a:ext cx="1247363" cy="1619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检索层 100% 稳定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600974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· HUMAN HANDOFF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6009744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转人工：把课堂要求做成双端闭环</a:t>
            </a:r>
            <a:endParaRPr lang="en-US" sz="3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019250"/>
            <a:ext cx="10972526" cy="9524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52476" y="2019250"/>
            <a:ext cx="1063877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课堂原话（10-12）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952476" y="2285943"/>
            <a:ext cx="10638778" cy="685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"回答都要基于我给你的基本资料，找不到就不要回答……进一步的做的话，就是让它</a:t>
            </a:r>
            <a:pPr algn="l" indent="0" marL="0">
              <a:buNone/>
            </a:pPr>
            <a:r>
              <a:rPr lang="en-US" sz="1650" b="1" dirty="0">
                <a:solidFill>
                  <a:srgbClr val="B044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自动转向人工</a:t>
            </a:r>
            <a:pPr algn="l" indent="0" marL="0">
              <a:buNone/>
            </a:pPr>
            <a:r>
              <a:rPr lang="en-US" sz="16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，人工在边上休息，AI 抛一个它答不了的问题过来，你才开始工作。"</a:t>
            </a:r>
            <a:endParaRPr lang="en-US" sz="16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3619410"/>
            <a:ext cx="2343091" cy="142871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47704" y="3819430"/>
            <a:ext cx="187599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47704" y="4048024"/>
            <a:ext cx="187599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 拒答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847704" y="4390915"/>
            <a:ext cx="1875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阈值层 / LLM 层判定资料未覆盖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3105072" y="3619410"/>
            <a:ext cx="237738" cy="1428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8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063" y="3619410"/>
            <a:ext cx="2343091" cy="142871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724182" y="3819430"/>
            <a:ext cx="187599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15" name="Text 9"/>
          <p:cNvSpPr/>
          <p:nvPr/>
        </p:nvSpPr>
        <p:spPr>
          <a:xfrm>
            <a:off x="3724182" y="4048024"/>
            <a:ext cx="187599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自动开工单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3724182" y="4419490"/>
            <a:ext cx="167597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落 tickets.jsonl，返回工单号</a:t>
            </a:r>
            <a:endParaRPr lang="en-US" sz="1050" dirty="0"/>
          </a:p>
        </p:txBody>
      </p:sp>
      <p:sp>
        <p:nvSpPr>
          <p:cNvPr id="17" name="Text 11"/>
          <p:cNvSpPr/>
          <p:nvPr/>
        </p:nvSpPr>
        <p:spPr>
          <a:xfrm>
            <a:off x="3724182" y="4638559"/>
            <a:ext cx="95209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T20261019-001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5972026" y="3619410"/>
            <a:ext cx="237738" cy="1428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8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3016" y="3619410"/>
            <a:ext cx="2343091" cy="142871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591135" y="3819430"/>
            <a:ext cx="187599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6591135" y="4048024"/>
            <a:ext cx="187599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问答页显示</a:t>
            </a:r>
            <a:endParaRPr lang="en-US" sz="1350" dirty="0"/>
          </a:p>
        </p:txBody>
      </p:sp>
      <p:sp>
        <p:nvSpPr>
          <p:cNvPr id="22" name="Text 15"/>
          <p:cNvSpPr/>
          <p:nvPr/>
        </p:nvSpPr>
        <p:spPr>
          <a:xfrm>
            <a:off x="6591135" y="4419490"/>
            <a:ext cx="154263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"已自动转人工 · 工单 XXX</a:t>
            </a:r>
            <a:endParaRPr lang="en-US" sz="1050" dirty="0"/>
          </a:p>
        </p:txBody>
      </p:sp>
      <p:sp>
        <p:nvSpPr>
          <p:cNvPr id="23" name="Text 16"/>
          <p:cNvSpPr/>
          <p:nvPr/>
        </p:nvSpPr>
        <p:spPr>
          <a:xfrm>
            <a:off x="6591135" y="4638559"/>
            <a:ext cx="1485482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· 人工已在 /handoff 接单"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8848504" y="3619410"/>
            <a:ext cx="237738" cy="1428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8A29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8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9494" y="3619410"/>
            <a:ext cx="2362141" cy="142871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477138" y="3828954"/>
            <a:ext cx="187599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19"/>
          <p:cNvSpPr/>
          <p:nvPr/>
        </p:nvSpPr>
        <p:spPr>
          <a:xfrm>
            <a:off x="9477138" y="4057549"/>
            <a:ext cx="187599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人工工作台</a:t>
            </a:r>
            <a:endParaRPr lang="en-US" sz="1350" dirty="0"/>
          </a:p>
        </p:txBody>
      </p:sp>
      <p:sp>
        <p:nvSpPr>
          <p:cNvPr id="28" name="Text 20"/>
          <p:cNvSpPr/>
          <p:nvPr/>
        </p:nvSpPr>
        <p:spPr>
          <a:xfrm>
            <a:off x="9477138" y="4429014"/>
            <a:ext cx="157120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待处理 / 已处理 / 累计统计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9477138" y="4648084"/>
            <a:ext cx="147595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点"开始处理"→ 状态闭环</a:t>
            </a:r>
            <a:endParaRPr lang="en-US" sz="1050" dirty="0"/>
          </a:p>
        </p:txBody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85" y="5933927"/>
            <a:ext cx="10972526" cy="9525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609585" y="6133947"/>
            <a:ext cx="6552655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人工端看到的，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正是系统最没把握的问题</a:t>
            </a:r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——两层拒答 + 工单是同一套判定的两个出口</a:t>
            </a:r>
            <a:endParaRPr lang="en-US" sz="1350" dirty="0"/>
          </a:p>
        </p:txBody>
      </p:sp>
      <p:sp>
        <p:nvSpPr>
          <p:cNvPr id="32" name="Text 23"/>
          <p:cNvSpPr/>
          <p:nvPr/>
        </p:nvSpPr>
        <p:spPr>
          <a:xfrm>
            <a:off x="8229394" y="6152996"/>
            <a:ext cx="3371385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零依赖实现：内置 http.server，无 Flask / FastAPI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533387"/>
            <a:ext cx="7609904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· LIMITATIONS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09585" y="838179"/>
            <a:ext cx="7609904" cy="504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不足与下一步：包括一次被自己推翻的优化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09585" y="2019250"/>
            <a:ext cx="5266813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已知限制（诚实披露）</a:t>
            </a:r>
            <a:endParaRPr lang="en-US" sz="1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2438339"/>
            <a:ext cx="5257669" cy="95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09585" y="2600260"/>
            <a:ext cx="5266813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评测存在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±4pp 生成方差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（temperature 0.3 对边界题的拒答判断非确定性），已归因到检索层零漂移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609585" y="3276518"/>
            <a:ext cx="5266813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抽象定义题（"习惯的定义"）提问与原文表述差异大 → 向量分 0.236 未过线，记为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边界案例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09585" y="3943251"/>
            <a:ext cx="5266813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营养表"每份 / 整批"口径仍有歧义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6324442" y="2019250"/>
            <a:ext cx="5266813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P1~P3 待办</a:t>
            </a:r>
            <a:endParaRPr lang="en-US" sz="18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2" y="2438339"/>
            <a:ext cx="5257669" cy="952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324442" y="2600260"/>
            <a:ext cx="5266813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生成后实体校验（拦"换食材"类幻觉，见失败案例 1）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6324442" y="3000300"/>
            <a:ext cx="5266813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词形还原（救 i18 类误拒）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6324442" y="3390815"/>
            <a:ext cx="5266813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模糊问题指代检测（救 v03）</a:t>
            </a:r>
            <a:endParaRPr lang="en-US" sz="13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4533787"/>
            <a:ext cx="10972526" cy="130489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23902" y="4771906"/>
            <a:ext cx="1035303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8A2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一次优化的自我回退（完整记录在 docs/决策日志.md）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923902" y="5038599"/>
            <a:ext cx="10353035" cy="561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为救上述定义题，给词法层加了中文 2-gram 召回——实测整体指标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反降</a:t>
            </a:r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（90.0% → 86.7%，页码 100% → 94.1%），而目标题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仍未救回</a:t>
            </a:r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          →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B0442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立即回退</a:t>
            </a:r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，不为救 1 题引入结构性风险。</a:t>
            </a:r>
            <a:endParaRPr lang="en-US" sz="13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5933927"/>
            <a:ext cx="10972526" cy="95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09585" y="6133947"/>
            <a:ext cx="1098167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扫描版教材 OCR：</a:t>
            </a:r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明确否决</a:t>
            </a:r>
            <a:pPr algn="l" indent="0" marL="0">
              <a:buNone/>
            </a:pPr>
            <a:r>
              <a:rPr lang="en-US" sz="1350" dirty="0">
                <a:solidFill>
                  <a:srgbClr val="44403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（531 页 70 分钟 + 错字污染检索——为验证先把数据搞脏，本末倒置）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590535"/>
            <a:ext cx="380990" cy="38099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04872" y="533387"/>
            <a:ext cx="87589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</a:t>
            </a:r>
            <a:endParaRPr lang="en-US" sz="900" dirty="0"/>
          </a:p>
        </p:txBody>
      </p:sp>
      <p:sp>
        <p:nvSpPr>
          <p:cNvPr id="5" name="Text 1"/>
          <p:cNvSpPr/>
          <p:nvPr/>
        </p:nvSpPr>
        <p:spPr>
          <a:xfrm>
            <a:off x="609585" y="1257269"/>
            <a:ext cx="5209664" cy="542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50 题实测，拒答正确率</a:t>
            </a:r>
            <a:endParaRPr lang="en-US" sz="3900" dirty="0"/>
          </a:p>
        </p:txBody>
      </p:sp>
      <p:sp>
        <p:nvSpPr>
          <p:cNvPr id="6" name="Text 2"/>
          <p:cNvSpPr/>
          <p:nvPr/>
        </p:nvSpPr>
        <p:spPr>
          <a:xfrm>
            <a:off x="5810105" y="1257269"/>
            <a:ext cx="999719" cy="542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B0442E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96%</a:t>
            </a:r>
            <a:endParaRPr lang="en-US" sz="3900" dirty="0"/>
          </a:p>
        </p:txBody>
      </p:sp>
      <p:sp>
        <p:nvSpPr>
          <p:cNvPr id="7" name="Text 3"/>
          <p:cNvSpPr/>
          <p:nvPr/>
        </p:nvSpPr>
        <p:spPr>
          <a:xfrm>
            <a:off x="6800680" y="1257269"/>
            <a:ext cx="2485582" cy="542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、页码引用</a:t>
            </a:r>
            <a:endParaRPr lang="en-US" sz="3900" dirty="0"/>
          </a:p>
        </p:txBody>
      </p:sp>
      <p:sp>
        <p:nvSpPr>
          <p:cNvPr id="8" name="Text 4"/>
          <p:cNvSpPr/>
          <p:nvPr/>
        </p:nvSpPr>
        <p:spPr>
          <a:xfrm>
            <a:off x="609585" y="1876378"/>
            <a:ext cx="1247363" cy="542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B0442E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100%</a:t>
            </a:r>
            <a:endParaRPr lang="en-US" sz="3900" dirty="0"/>
          </a:p>
        </p:txBody>
      </p:sp>
      <p:sp>
        <p:nvSpPr>
          <p:cNvPr id="9" name="Text 5"/>
          <p:cNvSpPr/>
          <p:nvPr/>
        </p:nvSpPr>
        <p:spPr>
          <a:xfrm>
            <a:off x="1847804" y="1876378"/>
            <a:ext cx="504432" cy="542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；</a:t>
            </a:r>
            <a:endParaRPr lang="en-US" sz="3900" dirty="0"/>
          </a:p>
        </p:txBody>
      </p:sp>
      <p:sp>
        <p:nvSpPr>
          <p:cNvPr id="10" name="Text 6"/>
          <p:cNvSpPr/>
          <p:nvPr/>
        </p:nvSpPr>
        <p:spPr>
          <a:xfrm>
            <a:off x="609585" y="2495488"/>
            <a:ext cx="9914896" cy="11620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换一本语言、题材、结构全不同的书，指标依然保持。</a:t>
            </a:r>
            <a:endParaRPr lang="en-US" sz="3900" dirty="0"/>
          </a:p>
        </p:txBody>
      </p:sp>
      <p:sp>
        <p:nvSpPr>
          <p:cNvPr id="11" name="Text 7"/>
          <p:cNvSpPr/>
          <p:nvPr/>
        </p:nvSpPr>
        <p:spPr>
          <a:xfrm>
            <a:off x="609585" y="4000400"/>
            <a:ext cx="1029588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管线与教材解耦——换书只改一行配置，这不是口号，是跑了两次的评测结论。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09585" y="4114697"/>
            <a:ext cx="522871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最大收获</a:t>
            </a:r>
            <a:endParaRPr lang="en-US" sz="15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4495688"/>
            <a:ext cx="5219570" cy="95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09585" y="4657609"/>
            <a:ext cx="5228714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用 A/B 数据和对照实验做决策，而不是凭感觉调参——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            本项目 6 次关键决策</a:t>
            </a:r>
            <a:endParaRPr lang="en-US" sz="135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全部留痕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（docs/决策日志.md），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            其中</a:t>
            </a:r>
            <a:endParaRPr lang="en-US" sz="135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3 次被自己的实测推翻</a:t>
            </a:r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362541" y="4114697"/>
            <a:ext cx="522871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分工</a:t>
            </a:r>
            <a:endParaRPr lang="en-US" sz="15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541" y="4495688"/>
            <a:ext cx="5219570" cy="952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62541" y="4695708"/>
            <a:ext cx="385714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刘家暄（整体设计 + 主讲）／ 傅卓凝（模型选型）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6362541" y="4981450"/>
            <a:ext cx="280942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陈涵飞（知识库）／ 陈芝聪（评测）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362541" y="5333867"/>
            <a:ext cx="522871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代码由 AI 辅助生成，成员负责需求定义、方案取舍与结果验收</a:t>
            </a:r>
            <a:endParaRPr lang="en-US" sz="12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5819630"/>
            <a:ext cx="10972526" cy="952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09585" y="6057749"/>
            <a:ext cx="1533106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谢谢 · 欢迎现场抽题</a:t>
            </a:r>
            <a:endParaRPr lang="en-US" sz="1350" dirty="0"/>
          </a:p>
        </p:txBody>
      </p:sp>
      <p:sp>
        <p:nvSpPr>
          <p:cNvPr id="22" name="Text 15"/>
          <p:cNvSpPr/>
          <p:nvPr/>
        </p:nvSpPr>
        <p:spPr>
          <a:xfrm>
            <a:off x="10820129" y="6076798"/>
            <a:ext cx="780650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2026.10.19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2026-10-18T20:00:18Z</dcterms:created>
  <dcterms:modified xsi:type="dcterms:W3CDTF">2026-10-18T20:00:18Z</dcterms:modified>
</cp:coreProperties>
</file>